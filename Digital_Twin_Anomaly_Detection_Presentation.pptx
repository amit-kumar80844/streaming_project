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 afternoon professors and evaluators. Today I am presenting my mini-project for IOE413 Streaming &amp; Data Analytics, titled 'Real-Time Digital Twin for Streaming-Based Anomaly Detection'. Our Team 10 members are Mohammed Sirajudheen (2023BCS0132), Rohit Pratap Singh (2023BCS0138), Amit Kumar (2023BCS0210), and Kartik P (2023BCD0051). In this project, we implement an end-to-end streaming condition monitoring system that couples a physics-informed Digital Twin with a two-stage machine learning ensemble, replicating the state-of-the-art benchmark published by Ranpariya and Sharma in the Journal of Simulation (2025).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begin with the core problem. Modern industrial facilities rely heavily on continuous rotating assets such as induction motors and pumps. Currently, most condition monitoring systems rely on periodic batch uploads every 15 to 60 minutes. But in rotating machinery, a bearing fault or thermal runaway can escalate in seconds. Furthermore, heavy deep learning models suffer from high inference latency exceeding 50ms, which cannot run on edge nodes. To solve this, we propose an integrated streaming architecture that pairs continuous Kafka/Spark ingestion with a physics-informed Digital Twin and a lightweight Two-Stage ensemble that detects anomalies in under 5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is anchored in a top-tier research paper published in the Journal of Simulation in 2025 by Ranpariya and Sharma. They introduced the concept of an edge-cloud Digital Twin with a two-phase ML ensemble designed specifically for time-critical industrial condition monitoring. The published paper reported two crucial benchmarks: a 99.71% fault detection accuracy and an average estimation delay of 4.8 milliseconds. Our goal in this mini-project was to fully implement, validate, and reproduce this architecture inside an actual streaming data pipeline with Kafka and Spark.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complete four-tier system architecture. At Tier 1, our edge simulator generates 7 multi-channel telemetry streams at 10 Hz based on physical induction motor equations. At Tier 2, the Digital Twin engine synchronizes with the operating speed and load to compute the nominal expected state and produces a 7-dimensional residual vector along with a Composite Health Index. At Tier 3, the 14-dimensional concatenated feature vector is screened by our Two-Stage ML ensemble in 4.78 milliseconds, while Kafka and Spark handle sliding window aggregation. Finally, at Tier 4, the processed telemetry is pushed over WebSockets to an interactive browser console featuring an animated Canvas Digital Twin and live diagnostic controls.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examine the mathematical backbone: the Physics-Informed Digital Twin. A key failure of naive machine learning is that when motor load increases, temperature and vibration naturally rise, triggering false alarms. Our Digital Twin solves this by running first-principles physical equations in real time: it calculates expected temperature based on current draw, expected vibration based on load factor, and expected discharge pressure. We then subtract the twin's expectation from the live sensor telemetry to yield the absolute residual vector R_i. Under healthy conditions, R_i is near zero regardless of load changes! We also calculate a Composite Health Index, or CHI, ranging from 0 to 100% using exponential decay across all normalized residuals.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examine the Two-Stage ML Ensemble. This is the exact architectural strategy from the baseline paper. In typical plant operations, 95% or more of machine runtime is normal. Running a heavy multi-class ensemble on every single 100ms packet wastes edge CPU and risks queue backlog. Therefore, we split the decision into two stages: Stage 1 is an ultra-fast linear SGD screener that takes only 1.5 ms. If the probability of an anomaly is below 0.45, it immediately returns 'Normal' and exits through the fast path. Only when an anomaly is detected does Stage 2 trigger. Stage 2 uses an ExtraTrees ensemble to diagnose the exact failure mode. The combined estimation delay is 4.78 ms, matching the paper's 4.8 ms budget perfectly.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directly highlights the big data streaming infrastructure: Apache Kafka and Apache Spark. Telemetry is ingested into an Apache Kafka topic named 'iiot-sensor-stream' at 10 Hz with key-based partitioning. Our PySpark Structured Streaming job, located in streaming/spark_streaming_job.py, connects directly to Kafka. It enforces a 10-second event-time watermark to handle network jitters and computes sliding window aggregates over a 5-second window with a 1-second slide interval. This computes rolling averages and peak vibrational levels for statistical stability. Furthermore, our project features a dual execution mode: it can run fully distributed in Docker with Kafka and Spark, or run via our in-process engine for instant standalone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evaluate our system across six distinct operational regimes grounded in real-world industrial physics. Class 0 represents healthy operation, where the Composite Health Index remains above 95%. Class 1 is Bearing Race Degradation, modeled according to ISO 10816 mechanical vibration severity charts. Class 2 represents Stator Winding Overheat with thermal runaway and current surge. Class 3 models Dynamic Rotor Imbalance exhibiting 1X rotational frequency harmonics. Class 4 simulates Hydraulic Cavitation in the centrifugal pump, causing sudden discharge pressure collapse and turbulence. And Class 5 tests Sensor Calibration Drift, where a single sensor channel drifts while the rest of the physical twin stays consistent.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make condition monitoring intuitive for plant operators, we built an interactive operations console. On the left, a 2D HTML5 Canvas animates the Digital Twin in real time: the motor shaft rotates at the exact live RPM, the winding color shifts dynamically from blue to red based on thermal telemetry, and mechanical vibration waves pulse in real time. In the center, 60fps streaming charts plot live signals against twin expectations. On the right, we have the Fault Injection Deck, which allows us during live demonstrations to trigger any of the 5 fault modes and immediately watch the health index plummet and Stage 2 trigger in under 5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experimental results and comparative evaluation against baselines. Our proposed Two-Stage Digital Twin ensemble achieved 99.94% accuracy with an average estimation delay of 4.78 ms, successfully validating and reproducing the benchmarks of Ranpariya &amp; Sharma (2025). Notice the ablation comparison: when we tested standard Random Forest and SVM on raw 7-D sensor data without the Digital Twin residuals, accuracy dropped to 94.8% and 91.2%, and latency surged up to 15.6 ms. This proves our core hypothesis: Digital Twin residuals isolate true mechanical defects from operational load shifts, enabling both higher accuracy and lower inference overhead.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four most important technical defense questions that evaluators frequently ask. First, why not deep learning? Because LSTMs require over 50 ms inference time and cannot run on cheap edge microcontrollers. Second, how are Kafka and Spark used? Kafka provides backpressure-safe 10 Hz ingestion, and Spark executes 5-second sliding window aggregations with a 10-second watermark. Third, why are physics residuals needed? Because raw sensor readings fluctuate with motor speed and load; residuals eliminate these false positives. And fourth, how does the Two-Stage ensemble save latency? By utilizing a fast-path bypass for normal packets in Stage 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have built a complete, production-grade streaming anomaly detection system that combines physical engineering principles with modern big data streaming and lightweight machine learning. We successfully replicated the 4.8 millisecond target and 99.7% accuracy established in published research. In the future, we plan to extend this with Remaining Useful Life Weibull prognostics and multi-asset fleet monitoring. Thank you professors, and I am now excited to demonstrate the live system and answer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05840"/>
            <a:ext cx="4114800" cy="365760"/>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8FAFC"/>
                </a:solidFill>
              </a:defRPr>
            </a:pPr>
            <a:r>
              <a:t>IOE413: STREAMING &amp; DATA ANALYTICS — MINI PROJECT</a:t>
            </a:r>
          </a:p>
        </p:txBody>
      </p:sp>
      <p:sp>
        <p:nvSpPr>
          <p:cNvPr id="4" name="TextBox 3"/>
          <p:cNvSpPr txBox="1"/>
          <p:nvPr/>
        </p:nvSpPr>
        <p:spPr>
          <a:xfrm>
            <a:off x="731520" y="1554480"/>
            <a:ext cx="10698480" cy="2103120"/>
          </a:xfrm>
          <a:prstGeom prst="rect">
            <a:avLst/>
          </a:prstGeom>
          <a:noFill/>
        </p:spPr>
        <p:txBody>
          <a:bodyPr wrap="square">
            <a:spAutoFit/>
          </a:bodyPr>
          <a:lstStyle/>
          <a:p>
            <a:pPr>
              <a:spcAft>
                <a:spcPts val="1200"/>
              </a:spcAft>
              <a:defRPr sz="3600" b="1">
                <a:solidFill>
                  <a:srgbClr val="F8FAFC"/>
                </a:solidFill>
              </a:defRPr>
            </a:pPr>
            <a:r>
              <a:t>Real-Time Digital Twin for</a:t>
            </a:r>
            <a:br/>
            <a:r>
              <a:t>Streaming-Based Anomaly Detection</a:t>
            </a:r>
          </a:p>
          <a:p>
            <a:pPr>
              <a:defRPr sz="1600">
                <a:solidFill>
                  <a:srgbClr val="38BDF8"/>
                </a:solidFill>
              </a:defRPr>
            </a:pPr>
            <a:r>
              <a:t>Ultra-Low Latency IIoT Fault Diagnosis with Apache Kafka, Spark Structured Streaming &amp; Two-Stage ML Ensemble</a:t>
            </a:r>
          </a:p>
        </p:txBody>
      </p:sp>
      <p:sp>
        <p:nvSpPr>
          <p:cNvPr id="5" name="Rounded Rectangle 4"/>
          <p:cNvSpPr/>
          <p:nvPr/>
        </p:nvSpPr>
        <p:spPr>
          <a:xfrm>
            <a:off x="731520" y="3931920"/>
            <a:ext cx="5486400" cy="2286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069080"/>
            <a:ext cx="5120640" cy="2011680"/>
          </a:xfrm>
          <a:prstGeom prst="rect">
            <a:avLst/>
          </a:prstGeom>
          <a:noFill/>
        </p:spPr>
        <p:txBody>
          <a:bodyPr wrap="square" lIns="0" tIns="0" rIns="0" bIns="0">
            <a:spAutoFit/>
          </a:bodyPr>
          <a:lstStyle/>
          <a:p>
            <a:pPr>
              <a:spcAft>
                <a:spcPts val="800"/>
              </a:spcAft>
              <a:defRPr sz="1400" b="1">
                <a:solidFill>
                  <a:srgbClr val="10B981"/>
                </a:solidFill>
              </a:defRPr>
            </a:pPr>
            <a:r>
              <a:t>Project Team &amp; Academic Credentials</a:t>
            </a:r>
          </a:p>
          <a:p>
            <a:pPr>
              <a:spcAft>
                <a:spcPts val="600"/>
              </a:spcAft>
            </a:pPr>
            <a:r>
              <a:rPr b="1" sz="1100">
                <a:solidFill>
                  <a:srgbClr val="38BDF8"/>
                </a:solidFill>
              </a:rPr>
              <a:t>Member 1: </a:t>
            </a:r>
            <a:r>
              <a:rPr b="0" sz="1100">
                <a:solidFill>
                  <a:srgbClr val="F8FAFC"/>
                </a:solidFill>
              </a:rPr>
              <a:t>Mohammed Sirajudheen — 2023BCS0132</a:t>
            </a:r>
          </a:p>
          <a:p>
            <a:pPr>
              <a:spcAft>
                <a:spcPts val="600"/>
              </a:spcAft>
            </a:pPr>
            <a:r>
              <a:rPr b="1" sz="1100">
                <a:solidFill>
                  <a:srgbClr val="38BDF8"/>
                </a:solidFill>
              </a:rPr>
              <a:t>Member 2: </a:t>
            </a:r>
            <a:r>
              <a:rPr b="0" sz="1100">
                <a:solidFill>
                  <a:srgbClr val="F8FAFC"/>
                </a:solidFill>
              </a:rPr>
              <a:t>Rohit Pratap Singh — 2023BCS0138</a:t>
            </a:r>
          </a:p>
          <a:p>
            <a:pPr>
              <a:spcAft>
                <a:spcPts val="600"/>
              </a:spcAft>
            </a:pPr>
            <a:r>
              <a:rPr b="1" sz="1100">
                <a:solidFill>
                  <a:srgbClr val="38BDF8"/>
                </a:solidFill>
              </a:rPr>
              <a:t>Member 3: </a:t>
            </a:r>
            <a:r>
              <a:rPr b="0" sz="1100">
                <a:solidFill>
                  <a:srgbClr val="F8FAFC"/>
                </a:solidFill>
              </a:rPr>
              <a:t>Amit Kumar — 2023BCS0210</a:t>
            </a:r>
          </a:p>
          <a:p>
            <a:pPr>
              <a:spcAft>
                <a:spcPts val="600"/>
              </a:spcAft>
            </a:pPr>
            <a:r>
              <a:rPr b="1" sz="1100">
                <a:solidFill>
                  <a:srgbClr val="38BDF8"/>
                </a:solidFill>
              </a:rPr>
              <a:t>Member 4: </a:t>
            </a:r>
            <a:r>
              <a:rPr b="0" sz="1100">
                <a:solidFill>
                  <a:srgbClr val="F8FAFC"/>
                </a:solidFill>
              </a:rPr>
              <a:t>Kartik P — 2023BCD0051</a:t>
            </a:r>
          </a:p>
          <a:p>
            <a:pPr>
              <a:spcAft>
                <a:spcPts val="600"/>
              </a:spcAft>
            </a:pPr>
            <a:r>
              <a:rPr b="1" sz="1300">
                <a:solidFill>
                  <a:srgbClr val="38BDF8"/>
                </a:solidFill>
              </a:rPr>
              <a:t>Team Identifier: </a:t>
            </a:r>
            <a:r>
              <a:rPr b="0" sz="1300">
                <a:solidFill>
                  <a:srgbClr val="F8FAFC"/>
                </a:solidFill>
              </a:rPr>
              <a:t>Team No – 12</a:t>
            </a:r>
          </a:p>
          <a:p>
            <a:pPr>
              <a:spcAft>
                <a:spcPts val="600"/>
              </a:spcAft>
            </a:pPr>
            <a:r>
              <a:rPr b="1" sz="1300">
                <a:solidFill>
                  <a:srgbClr val="38BDF8"/>
                </a:solidFill>
              </a:rPr>
              <a:t>Department: </a:t>
            </a:r>
            <a:r>
              <a:rPr b="0" sz="1300">
                <a:solidFill>
                  <a:srgbClr val="F8FAFC"/>
                </a:solidFill>
              </a:rPr>
              <a:t>Computer Science &amp; Engineering (2025–2026)</a:t>
            </a:r>
          </a:p>
        </p:txBody>
      </p:sp>
      <p:sp>
        <p:nvSpPr>
          <p:cNvPr id="7" name="Rounded Rectangle 6"/>
          <p:cNvSpPr/>
          <p:nvPr/>
        </p:nvSpPr>
        <p:spPr>
          <a:xfrm>
            <a:off x="6492240" y="3931920"/>
            <a:ext cx="4937760" cy="2286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4069080"/>
            <a:ext cx="4572000" cy="2011680"/>
          </a:xfrm>
          <a:prstGeom prst="rect">
            <a:avLst/>
          </a:prstGeom>
          <a:noFill/>
        </p:spPr>
        <p:txBody>
          <a:bodyPr wrap="square" lIns="0" tIns="0" rIns="0" bIns="0">
            <a:spAutoFit/>
          </a:bodyPr>
          <a:lstStyle/>
          <a:p>
            <a:pPr>
              <a:spcAft>
                <a:spcPts val="800"/>
              </a:spcAft>
              <a:defRPr sz="1400" b="1">
                <a:solidFill>
                  <a:srgbClr val="F59E0B"/>
                </a:solidFill>
              </a:defRPr>
            </a:pPr>
            <a:r>
              <a:t>Benchmark Deliverables</a:t>
            </a:r>
          </a:p>
          <a:p>
            <a:pPr>
              <a:spcAft>
                <a:spcPts val="600"/>
              </a:spcAft>
            </a:pPr>
            <a:r>
              <a:rPr b="1" sz="1200">
                <a:solidFill>
                  <a:srgbClr val="38BDF8"/>
                </a:solidFill>
              </a:rPr>
              <a:t>Base Research: </a:t>
            </a:r>
            <a:r>
              <a:rPr b="0" sz="1200">
                <a:solidFill>
                  <a:srgbClr val="F8FAFC"/>
                </a:solidFill>
              </a:rPr>
              <a:t>Journal of Simulation (2025) by Ranpariya &amp; Sharma</a:t>
            </a:r>
          </a:p>
          <a:p>
            <a:pPr>
              <a:spcAft>
                <a:spcPts val="600"/>
              </a:spcAft>
            </a:pPr>
            <a:r>
              <a:rPr b="1" sz="1200">
                <a:solidFill>
                  <a:srgbClr val="38BDF8"/>
                </a:solidFill>
              </a:rPr>
              <a:t>Accuracy Replicated: </a:t>
            </a:r>
            <a:r>
              <a:rPr b="0" sz="1200">
                <a:solidFill>
                  <a:srgbClr val="F8FAFC"/>
                </a:solidFill>
              </a:rPr>
              <a:t>99.94% Fault Classification Accuracy (Target: &gt;99.7%)</a:t>
            </a:r>
          </a:p>
          <a:p>
            <a:pPr>
              <a:spcAft>
                <a:spcPts val="600"/>
              </a:spcAft>
            </a:pPr>
            <a:r>
              <a:rPr b="1" sz="1200">
                <a:solidFill>
                  <a:srgbClr val="38BDF8"/>
                </a:solidFill>
              </a:rPr>
              <a:t>Real-Time Latency: </a:t>
            </a:r>
            <a:r>
              <a:rPr b="0" sz="1200">
                <a:solidFill>
                  <a:srgbClr val="F8FAFC"/>
                </a:solidFill>
              </a:rPr>
              <a:t>4.78 ms Edge Estimation Delay (Target: 4.80 ms)</a:t>
            </a:r>
          </a:p>
          <a:p>
            <a:pPr>
              <a:spcAft>
                <a:spcPts val="600"/>
              </a:spcAft>
            </a:pPr>
            <a:r>
              <a:rPr b="1" sz="1200">
                <a:solidFill>
                  <a:srgbClr val="38BDF8"/>
                </a:solidFill>
              </a:rPr>
              <a:t>Streaming Stack: </a:t>
            </a:r>
            <a:r>
              <a:rPr b="0" sz="1200">
                <a:solidFill>
                  <a:srgbClr val="F8FAFC"/>
                </a:solidFill>
              </a:rPr>
              <a:t>Apache Kafka (10 Hz) + PySpark Structured Streaming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38BDF8"/>
                </a:solidFill>
              </a:defRPr>
            </a:pPr>
            <a:r>
              <a:t>INDUSTRIAL CONTEXT &amp; PROBLEM FORMULATION</a:t>
            </a:r>
          </a:p>
          <a:p>
            <a:pPr>
              <a:spcAft>
                <a:spcPts val="300"/>
              </a:spcAft>
              <a:defRPr sz="2400" b="1">
                <a:solidFill>
                  <a:srgbClr val="F8FAFC"/>
                </a:solidFill>
              </a:defRPr>
            </a:pPr>
            <a:r>
              <a:t>The Critical Need for Low-Latency Streaming Analytics</a:t>
            </a:r>
          </a:p>
          <a:p>
            <a:pPr>
              <a:defRPr sz="1200">
                <a:solidFill>
                  <a:srgbClr val="94A3B8"/>
                </a:solidFill>
              </a:defRPr>
            </a:pPr>
            <a:r>
              <a:t>Why traditional batch-oriented SCADA systems fail in time-critical industrial IoT environments</a:t>
            </a:r>
          </a:p>
        </p:txBody>
      </p:sp>
      <p:sp>
        <p:nvSpPr>
          <p:cNvPr id="4" name="Rounded Rectangle 3"/>
          <p:cNvSpPr/>
          <p:nvPr/>
        </p:nvSpPr>
        <p:spPr>
          <a:xfrm>
            <a:off x="731520" y="1645920"/>
            <a:ext cx="32918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2926080" cy="4297680"/>
          </a:xfrm>
          <a:prstGeom prst="rect">
            <a:avLst/>
          </a:prstGeom>
          <a:noFill/>
        </p:spPr>
        <p:txBody>
          <a:bodyPr wrap="square" lIns="0" tIns="0" rIns="0" bIns="0">
            <a:spAutoFit/>
          </a:bodyPr>
          <a:lstStyle/>
          <a:p>
            <a:pPr>
              <a:spcAft>
                <a:spcPts val="800"/>
              </a:spcAft>
              <a:defRPr sz="1400" b="1">
                <a:solidFill>
                  <a:srgbClr val="38BDF8"/>
                </a:solidFill>
              </a:defRPr>
            </a:pPr>
            <a:r>
              <a:t>1. Critical IIoT Assets</a:t>
            </a:r>
          </a:p>
          <a:p>
            <a:pPr>
              <a:spcAft>
                <a:spcPts val="600"/>
              </a:spcAft>
            </a:pPr>
            <a:r>
              <a:rPr b="0" sz="1100">
                <a:solidFill>
                  <a:srgbClr val="F8FAFC"/>
                </a:solidFill>
              </a:rPr>
              <a:t>Assets like 3-phase induction motors, centrifugal pumps, and rotating turbines operate under constant mechanical stress.</a:t>
            </a:r>
          </a:p>
          <a:p>
            <a:pPr>
              <a:spcAft>
                <a:spcPts val="600"/>
              </a:spcAft>
            </a:pPr>
            <a:r>
              <a:rPr b="0" sz="1100">
                <a:solidFill>
                  <a:srgbClr val="F8FAFC"/>
                </a:solidFill>
              </a:rPr>
              <a:t>High-Frequency Signals: Vibration velocities (RMS/Peak), thermal rise (°C), stator current draw (A), fluid pressure, and acoustic emissions.</a:t>
            </a:r>
          </a:p>
          <a:p>
            <a:pPr>
              <a:spcAft>
                <a:spcPts val="600"/>
              </a:spcAft>
            </a:pPr>
            <a:r>
              <a:rPr b="0" sz="1100">
                <a:solidFill>
                  <a:srgbClr val="F8FAFC"/>
                </a:solidFill>
              </a:rPr>
              <a:t>Failure Consequences: Unplanned downtime costs thousands of dollars per hour; bearing seizure causes severe equipment destruction.</a:t>
            </a:r>
          </a:p>
        </p:txBody>
      </p:sp>
      <p:sp>
        <p:nvSpPr>
          <p:cNvPr id="6" name="Rounded Rectangle 5"/>
          <p:cNvSpPr/>
          <p:nvPr/>
        </p:nvSpPr>
        <p:spPr>
          <a:xfrm>
            <a:off x="4297680" y="1645920"/>
            <a:ext cx="34747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0560" y="1783080"/>
            <a:ext cx="3108960" cy="4297680"/>
          </a:xfrm>
          <a:prstGeom prst="rect">
            <a:avLst/>
          </a:prstGeom>
          <a:noFill/>
        </p:spPr>
        <p:txBody>
          <a:bodyPr wrap="square" lIns="0" tIns="0" rIns="0" bIns="0">
            <a:spAutoFit/>
          </a:bodyPr>
          <a:lstStyle/>
          <a:p>
            <a:pPr>
              <a:spcAft>
                <a:spcPts val="800"/>
              </a:spcAft>
              <a:defRPr sz="1400" b="1">
                <a:solidFill>
                  <a:srgbClr val="F59E0B"/>
                </a:solidFill>
              </a:defRPr>
            </a:pPr>
            <a:r>
              <a:t>2. Limitations of Batch Systems</a:t>
            </a:r>
          </a:p>
          <a:p>
            <a:pPr>
              <a:spcAft>
                <a:spcPts val="600"/>
              </a:spcAft>
            </a:pPr>
            <a:r>
              <a:rPr b="0" sz="1100">
                <a:solidFill>
                  <a:srgbClr val="F8FAFC"/>
                </a:solidFill>
              </a:rPr>
              <a:t>15–60 Minute Batch Delay: Telemetry collected periodically to central data lakes introduces unacceptable latency.</a:t>
            </a:r>
          </a:p>
          <a:p>
            <a:pPr>
              <a:spcAft>
                <a:spcPts val="600"/>
              </a:spcAft>
            </a:pPr>
            <a:r>
              <a:rPr b="0" sz="1100">
                <a:solidFill>
                  <a:srgbClr val="F8FAFC"/>
                </a:solidFill>
              </a:rPr>
              <a:t>Micro-cracks progress to catastrophic mechanical failure long before batch ETL jobs complete.</a:t>
            </a:r>
          </a:p>
          <a:p>
            <a:pPr>
              <a:spcAft>
                <a:spcPts val="600"/>
              </a:spcAft>
            </a:pPr>
            <a:r>
              <a:rPr b="0" sz="1100">
                <a:solidFill>
                  <a:srgbClr val="F8FAFC"/>
                </a:solidFill>
              </a:rPr>
              <a:t>Heavy Deep Learning Bottleneck: Complex LSTMs and Transformers require &gt;50ms inference, breaking real-time edge deadlines.</a:t>
            </a:r>
          </a:p>
          <a:p>
            <a:pPr>
              <a:spcAft>
                <a:spcPts val="600"/>
              </a:spcAft>
            </a:pPr>
            <a:r>
              <a:rPr b="0" sz="1100">
                <a:solidFill>
                  <a:srgbClr val="F8FAFC"/>
                </a:solidFill>
              </a:rPr>
              <a:t>No Physics Context: Standard ML looks only at raw data, unable to distinguish normal load changes from actual degradation.</a:t>
            </a:r>
          </a:p>
        </p:txBody>
      </p:sp>
      <p:sp>
        <p:nvSpPr>
          <p:cNvPr id="8" name="Rounded Rectangle 7"/>
          <p:cNvSpPr/>
          <p:nvPr/>
        </p:nvSpPr>
        <p:spPr>
          <a:xfrm>
            <a:off x="8046720" y="1645920"/>
            <a:ext cx="33832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783080"/>
            <a:ext cx="3017520" cy="4297680"/>
          </a:xfrm>
          <a:prstGeom prst="rect">
            <a:avLst/>
          </a:prstGeom>
          <a:noFill/>
        </p:spPr>
        <p:txBody>
          <a:bodyPr wrap="square" lIns="0" tIns="0" rIns="0" bIns="0">
            <a:spAutoFit/>
          </a:bodyPr>
          <a:lstStyle/>
          <a:p>
            <a:pPr>
              <a:spcAft>
                <a:spcPts val="800"/>
              </a:spcAft>
              <a:defRPr sz="1400" b="1">
                <a:solidFill>
                  <a:srgbClr val="10B981"/>
                </a:solidFill>
              </a:defRPr>
            </a:pPr>
            <a:r>
              <a:t>3. Proposed Streaming Solution</a:t>
            </a:r>
          </a:p>
          <a:p>
            <a:pPr>
              <a:spcAft>
                <a:spcPts val="600"/>
              </a:spcAft>
            </a:pPr>
            <a:r>
              <a:rPr b="0" sz="1100">
                <a:solidFill>
                  <a:srgbClr val="F8FAFC"/>
                </a:solidFill>
              </a:rPr>
              <a:t>Real-Time Streaming: 10 Hz telemetry ingestion via Apache Kafka broker.</a:t>
            </a:r>
          </a:p>
          <a:p>
            <a:pPr>
              <a:spcAft>
                <a:spcPts val="600"/>
              </a:spcAft>
            </a:pPr>
            <a:r>
              <a:rPr b="0" sz="1100">
                <a:solidFill>
                  <a:srgbClr val="F8FAFC"/>
                </a:solidFill>
              </a:rPr>
              <a:t>Physics-Informed Digital Twin: Real-time mathematical twin computing continuous physical residual error vectors.</a:t>
            </a:r>
          </a:p>
          <a:p>
            <a:pPr>
              <a:spcAft>
                <a:spcPts val="600"/>
              </a:spcAft>
            </a:pPr>
            <a:r>
              <a:rPr b="0" sz="1100">
                <a:solidFill>
                  <a:srgbClr val="F8FAFC"/>
                </a:solidFill>
              </a:rPr>
              <a:t>Two-Stage ML Ensemble: Ultra-fast binary screener (~1.5ms) + ExtraTrees diagnostic classifier (~3.3ms) =&gt; Total 4.78 ms.</a:t>
            </a:r>
          </a:p>
          <a:p>
            <a:pPr>
              <a:spcAft>
                <a:spcPts val="600"/>
              </a:spcAft>
            </a:pPr>
            <a:r>
              <a:rPr b="0" sz="1100">
                <a:solidFill>
                  <a:srgbClr val="F8FAFC"/>
                </a:solidFill>
              </a:rPr>
              <a:t>Windowed Aggregations: Spark Structured Streaming with 5-second sliding windows and watermarking.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38BDF8"/>
                </a:solidFill>
              </a:defRPr>
            </a:pPr>
            <a:r>
              <a:t>LITERATURE REVIEW &amp; RESEARCH FOUNDATION</a:t>
            </a:r>
          </a:p>
          <a:p>
            <a:pPr>
              <a:spcAft>
                <a:spcPts val="300"/>
              </a:spcAft>
              <a:defRPr sz="2400" b="1">
                <a:solidFill>
                  <a:srgbClr val="F8FAFC"/>
                </a:solidFill>
              </a:defRPr>
            </a:pPr>
            <a:r>
              <a:t>Replicating Ranpariya &amp; Sharma (Journal of Simulation, 2025)</a:t>
            </a:r>
          </a:p>
          <a:p>
            <a:pPr>
              <a:defRPr sz="1200">
                <a:solidFill>
                  <a:srgbClr val="94A3B8"/>
                </a:solidFill>
              </a:defRPr>
            </a:pPr>
            <a:r>
              <a:t>Rigorous empirical benchmark against published peer-reviewed state-of-the-art</a:t>
            </a:r>
          </a:p>
        </p:txBody>
      </p:sp>
      <p:sp>
        <p:nvSpPr>
          <p:cNvPr id="4" name="Rounded Rectangle 3"/>
          <p:cNvSpPr/>
          <p:nvPr/>
        </p:nvSpPr>
        <p:spPr>
          <a:xfrm>
            <a:off x="731520" y="1645920"/>
            <a:ext cx="10698480" cy="12801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10332719" cy="1005839"/>
          </a:xfrm>
          <a:prstGeom prst="rect">
            <a:avLst/>
          </a:prstGeom>
          <a:noFill/>
        </p:spPr>
        <p:txBody>
          <a:bodyPr wrap="square" lIns="0" tIns="0" rIns="0" bIns="0">
            <a:spAutoFit/>
          </a:bodyPr>
          <a:lstStyle/>
          <a:p>
            <a:pPr>
              <a:spcAft>
                <a:spcPts val="800"/>
              </a:spcAft>
              <a:defRPr sz="1400" b="1">
                <a:solidFill>
                  <a:srgbClr val="38BDF8"/>
                </a:solidFill>
              </a:defRPr>
            </a:pPr>
            <a:r>
              <a:t>Primary Benchmark Citation</a:t>
            </a:r>
          </a:p>
          <a:p>
            <a:pPr>
              <a:spcAft>
                <a:spcPts val="600"/>
              </a:spcAft>
            </a:pPr>
            <a:r>
              <a:rPr b="0" sz="1200">
                <a:solidFill>
                  <a:srgbClr val="F8FAFC"/>
                </a:solidFill>
              </a:rPr>
              <a:t>A. Ranpariya and S. Sharma, "A digital twin solution for fault detection in time-critical IIoT applications," Journal of Simulation, vol. 19, no. 4, pp. 441–454, 2025. DOI: 10.1080/17477778.2025.2453725</a:t>
            </a:r>
          </a:p>
        </p:txBody>
      </p:sp>
      <p:sp>
        <p:nvSpPr>
          <p:cNvPr id="6" name="Rounded Rectangle 5"/>
          <p:cNvSpPr/>
          <p:nvPr/>
        </p:nvSpPr>
        <p:spPr>
          <a:xfrm>
            <a:off x="731520" y="3108960"/>
            <a:ext cx="5212080" cy="3200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246120"/>
            <a:ext cx="4846320" cy="2926080"/>
          </a:xfrm>
          <a:prstGeom prst="rect">
            <a:avLst/>
          </a:prstGeom>
          <a:noFill/>
        </p:spPr>
        <p:txBody>
          <a:bodyPr wrap="square" lIns="0" tIns="0" rIns="0" bIns="0">
            <a:spAutoFit/>
          </a:bodyPr>
          <a:lstStyle/>
          <a:p>
            <a:pPr>
              <a:spcAft>
                <a:spcPts val="800"/>
              </a:spcAft>
              <a:defRPr sz="1400" b="1">
                <a:solidFill>
                  <a:srgbClr val="10B981"/>
                </a:solidFill>
              </a:defRPr>
            </a:pPr>
            <a:r>
              <a:t>Paper's Core Problem &amp; Innovation</a:t>
            </a:r>
          </a:p>
          <a:p>
            <a:pPr>
              <a:spcAft>
                <a:spcPts val="600"/>
              </a:spcAft>
            </a:pPr>
            <a:r>
              <a:rPr b="0" sz="1100">
                <a:solidFill>
                  <a:srgbClr val="F8FAFC"/>
                </a:solidFill>
              </a:rPr>
              <a:t>Core Question: How to design a Digital Twin combined with lightweight ML to achieve ultra-fast (&lt;5 ms) high-accuracy fault detection in resource-constrained IIoT?</a:t>
            </a:r>
          </a:p>
          <a:p>
            <a:pPr>
              <a:spcAft>
                <a:spcPts val="600"/>
              </a:spcAft>
            </a:pPr>
            <a:r>
              <a:rPr b="0" sz="1100">
                <a:solidFill>
                  <a:srgbClr val="F8FAFC"/>
                </a:solidFill>
              </a:rPr>
              <a:t>Edge-Cloud Collaboration: Moving physical twin residual generation directly to the edge to avoid network transit delay.</a:t>
            </a:r>
          </a:p>
          <a:p>
            <a:pPr>
              <a:spcAft>
                <a:spcPts val="600"/>
              </a:spcAft>
            </a:pPr>
            <a:r>
              <a:rPr b="0" sz="1100">
                <a:solidFill>
                  <a:srgbClr val="F8FAFC"/>
                </a:solidFill>
              </a:rPr>
              <a:t>Two-Tier Screening: Using a fast binary boundary classifier to filter normal packets instantly, reserving heavy multiclass trees only for confirmed anomalies.</a:t>
            </a:r>
          </a:p>
        </p:txBody>
      </p:sp>
      <p:sp>
        <p:nvSpPr>
          <p:cNvPr id="8" name="Rounded Rectangle 7"/>
          <p:cNvSpPr/>
          <p:nvPr/>
        </p:nvSpPr>
        <p:spPr>
          <a:xfrm>
            <a:off x="6217920" y="3108960"/>
            <a:ext cx="5212080" cy="3200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3246120"/>
            <a:ext cx="4846320" cy="2926080"/>
          </a:xfrm>
          <a:prstGeom prst="rect">
            <a:avLst/>
          </a:prstGeom>
          <a:noFill/>
        </p:spPr>
        <p:txBody>
          <a:bodyPr wrap="square" lIns="0" tIns="0" rIns="0" bIns="0">
            <a:spAutoFit/>
          </a:bodyPr>
          <a:lstStyle/>
          <a:p>
            <a:pPr>
              <a:spcAft>
                <a:spcPts val="800"/>
              </a:spcAft>
              <a:defRPr sz="1400" b="1">
                <a:solidFill>
                  <a:srgbClr val="F59E0B"/>
                </a:solidFill>
              </a:defRPr>
            </a:pPr>
            <a:r>
              <a:t>Paper Benchmarks vs Our Replication Target</a:t>
            </a:r>
          </a:p>
          <a:p>
            <a:pPr>
              <a:spcAft>
                <a:spcPts val="600"/>
              </a:spcAft>
            </a:pPr>
            <a:r>
              <a:rPr b="1" sz="1100">
                <a:solidFill>
                  <a:srgbClr val="38BDF8"/>
                </a:solidFill>
              </a:rPr>
              <a:t>Benchmark Accuracy: </a:t>
            </a:r>
            <a:r>
              <a:rPr b="0" sz="1100">
                <a:solidFill>
                  <a:srgbClr val="F8FAFC"/>
                </a:solidFill>
              </a:rPr>
              <a:t>Reported Fault Detection Accuracy: 99.71% (Our Replicated: 99.94%)</a:t>
            </a:r>
          </a:p>
          <a:p>
            <a:pPr>
              <a:spcAft>
                <a:spcPts val="600"/>
              </a:spcAft>
            </a:pPr>
            <a:r>
              <a:rPr b="1" sz="1100">
                <a:solidFill>
                  <a:srgbClr val="38BDF8"/>
                </a:solidFill>
              </a:rPr>
              <a:t>Inference Latency: </a:t>
            </a:r>
            <a:r>
              <a:rPr b="0" sz="1100">
                <a:solidFill>
                  <a:srgbClr val="F8FAFC"/>
                </a:solidFill>
              </a:rPr>
              <a:t>Reported Estimation Delay: 4.80 ms (Our Replicated: 4.78 ms)</a:t>
            </a:r>
          </a:p>
          <a:p>
            <a:pPr>
              <a:spcAft>
                <a:spcPts val="600"/>
              </a:spcAft>
            </a:pPr>
            <a:r>
              <a:rPr b="1" sz="1100">
                <a:solidFill>
                  <a:srgbClr val="38BDF8"/>
                </a:solidFill>
              </a:rPr>
              <a:t>Evaluated Faults: </a:t>
            </a:r>
            <a:r>
              <a:rPr b="0" sz="1100">
                <a:solidFill>
                  <a:srgbClr val="F8FAFC"/>
                </a:solidFill>
              </a:rPr>
              <a:t>Bearing degradation, stator thermal runaway, rotor imbalance, cavitation, sensor drift.</a:t>
            </a:r>
          </a:p>
          <a:p>
            <a:pPr>
              <a:spcAft>
                <a:spcPts val="600"/>
              </a:spcAft>
            </a:pPr>
            <a:r>
              <a:rPr b="1" sz="1100">
                <a:solidFill>
                  <a:srgbClr val="38BDF8"/>
                </a:solidFill>
              </a:rPr>
              <a:t>Core Insight Validated: </a:t>
            </a:r>
            <a:r>
              <a:rPr b="0" sz="1100">
                <a:solidFill>
                  <a:srgbClr val="F8FAFC"/>
                </a:solidFill>
              </a:rPr>
              <a:t>Proves that physics residuals eliminate load-induced false alarms.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38BDF8"/>
                </a:solidFill>
              </a:defRPr>
            </a:pPr>
            <a:r>
              <a:t>SYSTEM ARCHITECTURE &amp; TOPOLOGY</a:t>
            </a:r>
          </a:p>
          <a:p>
            <a:pPr>
              <a:spcAft>
                <a:spcPts val="300"/>
              </a:spcAft>
              <a:defRPr sz="2400" b="1">
                <a:solidFill>
                  <a:srgbClr val="F8FAFC"/>
                </a:solidFill>
              </a:defRPr>
            </a:pPr>
            <a:r>
              <a:t>End-to-End Streaming &amp; Analytics Pipeline</a:t>
            </a:r>
          </a:p>
          <a:p>
            <a:pPr>
              <a:defRPr sz="1200">
                <a:solidFill>
                  <a:srgbClr val="94A3B8"/>
                </a:solidFill>
              </a:defRPr>
            </a:pPr>
            <a:r>
              <a:t>Modular multi-tier topology uniting edge simulation, digital twin physics, ML, and live web telemetry</a:t>
            </a:r>
          </a:p>
        </p:txBody>
      </p:sp>
      <p:sp>
        <p:nvSpPr>
          <p:cNvPr id="4" name="Rounded Rectangle 3"/>
          <p:cNvSpPr/>
          <p:nvPr/>
        </p:nvSpPr>
        <p:spPr>
          <a:xfrm>
            <a:off x="731520" y="1645920"/>
            <a:ext cx="24688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2103120" cy="4297680"/>
          </a:xfrm>
          <a:prstGeom prst="rect">
            <a:avLst/>
          </a:prstGeom>
          <a:noFill/>
        </p:spPr>
        <p:txBody>
          <a:bodyPr wrap="square" lIns="0" tIns="0" rIns="0" bIns="0">
            <a:spAutoFit/>
          </a:bodyPr>
          <a:lstStyle/>
          <a:p>
            <a:pPr>
              <a:spcAft>
                <a:spcPts val="800"/>
              </a:spcAft>
              <a:defRPr sz="1400" b="1">
                <a:solidFill>
                  <a:srgbClr val="38BDF8"/>
                </a:solidFill>
              </a:defRPr>
            </a:pPr>
            <a:r>
              <a:t>Tier 1: Edge Telemetry</a:t>
            </a:r>
          </a:p>
          <a:p>
            <a:pPr>
              <a:spcAft>
                <a:spcPts val="600"/>
              </a:spcAft>
            </a:pPr>
            <a:r>
              <a:rPr b="1" sz="1100">
                <a:solidFill>
                  <a:srgbClr val="38BDF8"/>
                </a:solidFill>
              </a:rPr>
              <a:t>Cadence: </a:t>
            </a:r>
            <a:r>
              <a:rPr b="0" sz="1100">
                <a:solidFill>
                  <a:srgbClr val="F8FAFC"/>
                </a:solidFill>
              </a:rPr>
              <a:t>10 Hz Sampling (100 ms).</a:t>
            </a:r>
          </a:p>
          <a:p>
            <a:pPr>
              <a:spcAft>
                <a:spcPts val="600"/>
              </a:spcAft>
            </a:pPr>
            <a:r>
              <a:rPr b="1" sz="1100">
                <a:solidFill>
                  <a:srgbClr val="38BDF8"/>
                </a:solidFill>
              </a:rPr>
              <a:t>Sensor Signals: </a:t>
            </a:r>
            <a:r>
              <a:rPr b="0" sz="1100">
                <a:solidFill>
                  <a:srgbClr val="F8FAFC"/>
                </a:solidFill>
              </a:rPr>
              <a:t>7 Channels: Vibration RMS &amp; Peak, Temp, RPM, Current, Pressure, Acoustic dB.</a:t>
            </a:r>
          </a:p>
          <a:p>
            <a:pPr>
              <a:spcAft>
                <a:spcPts val="600"/>
              </a:spcAft>
            </a:pPr>
            <a:r>
              <a:rPr b="1" sz="1100">
                <a:solidFill>
                  <a:srgbClr val="38BDF8"/>
                </a:solidFill>
              </a:rPr>
              <a:t>Fault Injection: </a:t>
            </a:r>
            <a:r>
              <a:rPr b="0" sz="1100">
                <a:solidFill>
                  <a:srgbClr val="F8FAFC"/>
                </a:solidFill>
              </a:rPr>
              <a:t>Dynamic injection of 5 real-world mechanical and electrical fault modes.</a:t>
            </a:r>
          </a:p>
        </p:txBody>
      </p:sp>
      <p:sp>
        <p:nvSpPr>
          <p:cNvPr id="6" name="Rounded Rectangle 5"/>
          <p:cNvSpPr/>
          <p:nvPr/>
        </p:nvSpPr>
        <p:spPr>
          <a:xfrm>
            <a:off x="3474720" y="1645920"/>
            <a:ext cx="24688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0" y="1783080"/>
            <a:ext cx="2103120" cy="4297680"/>
          </a:xfrm>
          <a:prstGeom prst="rect">
            <a:avLst/>
          </a:prstGeom>
          <a:noFill/>
        </p:spPr>
        <p:txBody>
          <a:bodyPr wrap="square" lIns="0" tIns="0" rIns="0" bIns="0">
            <a:spAutoFit/>
          </a:bodyPr>
          <a:lstStyle/>
          <a:p>
            <a:pPr>
              <a:spcAft>
                <a:spcPts val="800"/>
              </a:spcAft>
              <a:defRPr sz="1400" b="1">
                <a:solidFill>
                  <a:srgbClr val="10B981"/>
                </a:solidFill>
              </a:defRPr>
            </a:pPr>
            <a:r>
              <a:t>Tier 2: Digital Twin</a:t>
            </a:r>
          </a:p>
          <a:p>
            <a:pPr>
              <a:spcAft>
                <a:spcPts val="600"/>
              </a:spcAft>
            </a:pPr>
            <a:r>
              <a:rPr b="1" sz="1100">
                <a:solidFill>
                  <a:srgbClr val="38BDF8"/>
                </a:solidFill>
              </a:rPr>
              <a:t>Physics Model: </a:t>
            </a:r>
            <a:r>
              <a:rPr b="0" sz="1100">
                <a:solidFill>
                  <a:srgbClr val="F8FAFC"/>
                </a:solidFill>
              </a:rPr>
              <a:t>Virtual replica of asset TWIN-MTR-01.</a:t>
            </a:r>
          </a:p>
          <a:p>
            <a:pPr>
              <a:spcAft>
                <a:spcPts val="600"/>
              </a:spcAft>
            </a:pPr>
            <a:r>
              <a:rPr b="1" sz="1100">
                <a:solidFill>
                  <a:srgbClr val="38BDF8"/>
                </a:solidFill>
              </a:rPr>
              <a:t>State Engine: </a:t>
            </a:r>
            <a:r>
              <a:rPr b="0" sz="1100">
                <a:solidFill>
                  <a:srgbClr val="F8FAFC"/>
                </a:solidFill>
              </a:rPr>
              <a:t>Computes nominal expected physical values based on slip &amp; thermal curves.</a:t>
            </a:r>
          </a:p>
          <a:p>
            <a:pPr>
              <a:spcAft>
                <a:spcPts val="600"/>
              </a:spcAft>
            </a:pPr>
            <a:r>
              <a:rPr b="1" sz="1100">
                <a:solidFill>
                  <a:srgbClr val="38BDF8"/>
                </a:solidFill>
              </a:rPr>
              <a:t>Residuals: </a:t>
            </a:r>
            <a:r>
              <a:rPr b="0" sz="1100">
                <a:solidFill>
                  <a:srgbClr val="F8FAFC"/>
                </a:solidFill>
              </a:rPr>
              <a:t>Extracts 7-D residual vector and Composite Health Index (CHI).</a:t>
            </a:r>
          </a:p>
        </p:txBody>
      </p:sp>
      <p:sp>
        <p:nvSpPr>
          <p:cNvPr id="8" name="Rounded Rectangle 7"/>
          <p:cNvSpPr/>
          <p:nvPr/>
        </p:nvSpPr>
        <p:spPr>
          <a:xfrm>
            <a:off x="6217920" y="1645920"/>
            <a:ext cx="24688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83080"/>
            <a:ext cx="2103120" cy="4297680"/>
          </a:xfrm>
          <a:prstGeom prst="rect">
            <a:avLst/>
          </a:prstGeom>
          <a:noFill/>
        </p:spPr>
        <p:txBody>
          <a:bodyPr wrap="square" lIns="0" tIns="0" rIns="0" bIns="0">
            <a:spAutoFit/>
          </a:bodyPr>
          <a:lstStyle/>
          <a:p>
            <a:pPr>
              <a:spcAft>
                <a:spcPts val="800"/>
              </a:spcAft>
              <a:defRPr sz="1400" b="1">
                <a:solidFill>
                  <a:srgbClr val="F59E0B"/>
                </a:solidFill>
              </a:defRPr>
            </a:pPr>
            <a:r>
              <a:t>Tier 3: Streaming &amp; ML</a:t>
            </a:r>
          </a:p>
          <a:p>
            <a:pPr>
              <a:spcAft>
                <a:spcPts val="600"/>
              </a:spcAft>
            </a:pPr>
            <a:r>
              <a:rPr b="1" sz="1100">
                <a:solidFill>
                  <a:srgbClr val="38BDF8"/>
                </a:solidFill>
              </a:rPr>
              <a:t>Stage 1 ML: </a:t>
            </a:r>
            <a:r>
              <a:rPr b="0" sz="1100">
                <a:solidFill>
                  <a:srgbClr val="F8FAFC"/>
                </a:solidFill>
              </a:rPr>
              <a:t>Ultra-fast SGD Screener (~1.5 ms) bypasses normal packets.</a:t>
            </a:r>
          </a:p>
          <a:p>
            <a:pPr>
              <a:spcAft>
                <a:spcPts val="600"/>
              </a:spcAft>
            </a:pPr>
            <a:r>
              <a:rPr b="1" sz="1100">
                <a:solidFill>
                  <a:srgbClr val="38BDF8"/>
                </a:solidFill>
              </a:rPr>
              <a:t>Stage 2 ML: </a:t>
            </a:r>
            <a:r>
              <a:rPr b="0" sz="1100">
                <a:solidFill>
                  <a:srgbClr val="F8FAFC"/>
                </a:solidFill>
              </a:rPr>
              <a:t>ExtraTrees multi-class classifier (~3.3 ms).</a:t>
            </a:r>
          </a:p>
          <a:p>
            <a:pPr>
              <a:spcAft>
                <a:spcPts val="600"/>
              </a:spcAft>
            </a:pPr>
            <a:r>
              <a:rPr b="1" sz="1100">
                <a:solidFill>
                  <a:srgbClr val="38BDF8"/>
                </a:solidFill>
              </a:rPr>
              <a:t>Distributed Stack: </a:t>
            </a:r>
            <a:r>
              <a:rPr b="0" sz="1100">
                <a:solidFill>
                  <a:srgbClr val="F8FAFC"/>
                </a:solidFill>
              </a:rPr>
              <a:t>Kafka topic (iiot-sensor-stream) + Spark Structured Streaming.</a:t>
            </a:r>
          </a:p>
        </p:txBody>
      </p:sp>
      <p:sp>
        <p:nvSpPr>
          <p:cNvPr id="10" name="Rounded Rectangle 9"/>
          <p:cNvSpPr/>
          <p:nvPr/>
        </p:nvSpPr>
        <p:spPr>
          <a:xfrm>
            <a:off x="8961120" y="1645920"/>
            <a:ext cx="24688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0" y="1783080"/>
            <a:ext cx="2103120" cy="4297680"/>
          </a:xfrm>
          <a:prstGeom prst="rect">
            <a:avLst/>
          </a:prstGeom>
          <a:noFill/>
        </p:spPr>
        <p:txBody>
          <a:bodyPr wrap="square" lIns="0" tIns="0" rIns="0" bIns="0">
            <a:spAutoFit/>
          </a:bodyPr>
          <a:lstStyle/>
          <a:p>
            <a:pPr>
              <a:spcAft>
                <a:spcPts val="800"/>
              </a:spcAft>
              <a:defRPr sz="1400" b="1">
                <a:solidFill>
                  <a:srgbClr val="EF4444"/>
                </a:solidFill>
              </a:defRPr>
            </a:pPr>
            <a:r>
              <a:t>Tier 4: Live Console</a:t>
            </a:r>
          </a:p>
          <a:p>
            <a:pPr>
              <a:spcAft>
                <a:spcPts val="600"/>
              </a:spcAft>
            </a:pPr>
            <a:r>
              <a:rPr b="1" sz="1100">
                <a:solidFill>
                  <a:srgbClr val="38BDF8"/>
                </a:solidFill>
              </a:rPr>
              <a:t>WebSockets: </a:t>
            </a:r>
            <a:r>
              <a:rPr b="0" sz="1100">
                <a:solidFill>
                  <a:srgbClr val="F8FAFC"/>
                </a:solidFill>
              </a:rPr>
              <a:t>Low-latency bidirectional JSON broadcast @ 10 Hz.</a:t>
            </a:r>
          </a:p>
          <a:p>
            <a:pPr>
              <a:spcAft>
                <a:spcPts val="600"/>
              </a:spcAft>
            </a:pPr>
            <a:r>
              <a:rPr b="1" sz="1100">
                <a:solidFill>
                  <a:srgbClr val="38BDF8"/>
                </a:solidFill>
              </a:rPr>
              <a:t>Twin Canvas: </a:t>
            </a:r>
            <a:r>
              <a:rPr b="0" sz="1100">
                <a:solidFill>
                  <a:srgbClr val="F8FAFC"/>
                </a:solidFill>
              </a:rPr>
              <a:t>2D Canvas dynamic twin with shaft rotation &amp; thermal shader.</a:t>
            </a:r>
          </a:p>
          <a:p>
            <a:pPr>
              <a:spcAft>
                <a:spcPts val="600"/>
              </a:spcAft>
            </a:pPr>
            <a:r>
              <a:rPr b="1" sz="1100">
                <a:solidFill>
                  <a:srgbClr val="38BDF8"/>
                </a:solidFill>
              </a:rPr>
              <a:t>Charts &amp; Audit: </a:t>
            </a:r>
            <a:r>
              <a:rPr b="0" sz="1100">
                <a:solidFill>
                  <a:srgbClr val="F8FAFC"/>
                </a:solidFill>
              </a:rPr>
              <a:t>60 FPS zero-dependency telemetry charts and audit feed.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38BDF8"/>
                </a:solidFill>
              </a:defRPr>
            </a:pPr>
            <a:r>
              <a:t>MATHEMATICAL FOUNDATION</a:t>
            </a:r>
          </a:p>
          <a:p>
            <a:pPr>
              <a:spcAft>
                <a:spcPts val="300"/>
              </a:spcAft>
              <a:defRPr sz="2400" b="1">
                <a:solidFill>
                  <a:srgbClr val="F8FAFC"/>
                </a:solidFill>
              </a:defRPr>
            </a:pPr>
            <a:r>
              <a:t>Physics-Informed Digital Twin State &amp; Residual Engine</a:t>
            </a:r>
          </a:p>
          <a:p>
            <a:pPr>
              <a:defRPr sz="1200">
                <a:solidFill>
                  <a:srgbClr val="94A3B8"/>
                </a:solidFill>
              </a:defRPr>
            </a:pPr>
            <a:r>
              <a:t>Asset ID: TWIN-MTR-01 — Synchronized first-principles mathematical modeling</a:t>
            </a:r>
          </a:p>
        </p:txBody>
      </p:sp>
      <p:sp>
        <p:nvSpPr>
          <p:cNvPr id="4" name="Rounded Rectangle 3"/>
          <p:cNvSpPr/>
          <p:nvPr/>
        </p:nvSpPr>
        <p:spPr>
          <a:xfrm>
            <a:off x="7315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846320" cy="4297680"/>
          </a:xfrm>
          <a:prstGeom prst="rect">
            <a:avLst/>
          </a:prstGeom>
          <a:noFill/>
        </p:spPr>
        <p:txBody>
          <a:bodyPr wrap="square" lIns="0" tIns="0" rIns="0" bIns="0">
            <a:spAutoFit/>
          </a:bodyPr>
          <a:lstStyle/>
          <a:p>
            <a:pPr>
              <a:spcAft>
                <a:spcPts val="800"/>
              </a:spcAft>
              <a:defRPr sz="1400" b="1">
                <a:solidFill>
                  <a:srgbClr val="38BDF8"/>
                </a:solidFill>
              </a:defRPr>
            </a:pPr>
            <a:r>
              <a:t>Nominal Physics Equations</a:t>
            </a:r>
          </a:p>
          <a:p>
            <a:pPr>
              <a:spcAft>
                <a:spcPts val="600"/>
              </a:spcAft>
            </a:pPr>
            <a:r>
              <a:rPr b="0" sz="1100">
                <a:solidFill>
                  <a:srgbClr val="F8FAFC"/>
                </a:solidFill>
              </a:rPr>
              <a:t>Thermal Dissipation Model: Calculates expected steady-state temperature based on ambient conditions and squared electrical load current:</a:t>
            </a:r>
          </a:p>
          <a:p>
            <a:pPr>
              <a:spcAft>
                <a:spcPts val="600"/>
              </a:spcAft>
            </a:pPr>
            <a:r>
              <a:rPr b="1" sz="1100">
                <a:solidFill>
                  <a:srgbClr val="38BDF8"/>
                </a:solidFill>
              </a:rPr>
              <a:t>Thermal Eq: </a:t>
            </a:r>
            <a:r>
              <a:rPr b="0" sz="1100">
                <a:solidFill>
                  <a:srgbClr val="38BDF8"/>
                </a:solidFill>
              </a:rPr>
              <a:t>T_hat_twin = T_ambient + Delta_T_max * (I_actual / I_rated)^1.8</a:t>
            </a:r>
          </a:p>
          <a:p>
            <a:pPr>
              <a:spcAft>
                <a:spcPts val="600"/>
              </a:spcAft>
            </a:pPr>
            <a:r>
              <a:rPr b="0" sz="1100">
                <a:solidFill>
                  <a:srgbClr val="F8FAFC"/>
                </a:solidFill>
              </a:rPr>
              <a:t>Vibrational Dynamics Model: Nominal RMS velocity baseline proportional to operating load factor:</a:t>
            </a:r>
          </a:p>
          <a:p>
            <a:pPr>
              <a:spcAft>
                <a:spcPts val="600"/>
              </a:spcAft>
            </a:pPr>
            <a:r>
              <a:rPr b="1" sz="1100">
                <a:solidFill>
                  <a:srgbClr val="38BDF8"/>
                </a:solidFill>
              </a:rPr>
              <a:t>Vibration Eq: </a:t>
            </a:r>
            <a:r>
              <a:rPr b="0" sz="1100">
                <a:solidFill>
                  <a:srgbClr val="38BDF8"/>
                </a:solidFill>
              </a:rPr>
              <a:t>V_hat_rms = V_0 + alpha * Load_factor</a:t>
            </a:r>
          </a:p>
          <a:p>
            <a:pPr>
              <a:spcAft>
                <a:spcPts val="600"/>
              </a:spcAft>
            </a:pPr>
            <a:r>
              <a:rPr b="0" sz="1100">
                <a:solidFill>
                  <a:srgbClr val="F8FAFC"/>
                </a:solidFill>
              </a:rPr>
              <a:t>Hydraulic Head Pressure: Models discharge pressure curve under centrifugal pump impedance:</a:t>
            </a:r>
          </a:p>
          <a:p>
            <a:pPr>
              <a:spcAft>
                <a:spcPts val="600"/>
              </a:spcAft>
            </a:pPr>
            <a:r>
              <a:rPr b="1" sz="1100">
                <a:solidFill>
                  <a:srgbClr val="38BDF8"/>
                </a:solidFill>
              </a:rPr>
              <a:t>Pressure Eq: </a:t>
            </a:r>
            <a:r>
              <a:rPr b="0" sz="1100">
                <a:solidFill>
                  <a:srgbClr val="38BDF8"/>
                </a:solidFill>
              </a:rPr>
              <a:t>P_hat_twin = P_rated - beta * (Load_factor - 0.75)</a:t>
            </a:r>
          </a:p>
        </p:txBody>
      </p:sp>
      <p:sp>
        <p:nvSpPr>
          <p:cNvPr id="6" name="Rounded Rectangle 5"/>
          <p:cNvSpPr/>
          <p:nvPr/>
        </p:nvSpPr>
        <p:spPr>
          <a:xfrm>
            <a:off x="62179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83080"/>
            <a:ext cx="4846320" cy="4297680"/>
          </a:xfrm>
          <a:prstGeom prst="rect">
            <a:avLst/>
          </a:prstGeom>
          <a:noFill/>
        </p:spPr>
        <p:txBody>
          <a:bodyPr wrap="square" lIns="0" tIns="0" rIns="0" bIns="0">
            <a:spAutoFit/>
          </a:bodyPr>
          <a:lstStyle/>
          <a:p>
            <a:pPr>
              <a:spcAft>
                <a:spcPts val="800"/>
              </a:spcAft>
              <a:defRPr sz="1400" b="1">
                <a:solidFill>
                  <a:srgbClr val="10B981"/>
                </a:solidFill>
              </a:defRPr>
            </a:pPr>
            <a:r>
              <a:t>Residual Extraction &amp; Health Index (CHI)</a:t>
            </a:r>
          </a:p>
          <a:p>
            <a:pPr>
              <a:spcAft>
                <a:spcPts val="600"/>
              </a:spcAft>
            </a:pPr>
            <a:r>
              <a:rPr b="0" sz="1100">
                <a:solidFill>
                  <a:srgbClr val="F8FAFC"/>
                </a:solidFill>
              </a:rPr>
              <a:t>Absolute Physical Residuals: For each of the 7 sensor channels:</a:t>
            </a:r>
          </a:p>
          <a:p>
            <a:pPr>
              <a:spcAft>
                <a:spcPts val="600"/>
              </a:spcAft>
            </a:pPr>
            <a:r>
              <a:rPr b="1" sz="1100">
                <a:solidFill>
                  <a:srgbClr val="38BDF8"/>
                </a:solidFill>
              </a:rPr>
              <a:t>Residual Formula: </a:t>
            </a:r>
            <a:r>
              <a:rPr b="0" sz="1100">
                <a:solidFill>
                  <a:srgbClr val="10B981"/>
                </a:solidFill>
              </a:rPr>
              <a:t>R_i(t) = |X_actual,i(t) - X_hat_twin,i(t)|</a:t>
            </a:r>
          </a:p>
          <a:p>
            <a:pPr>
              <a:spcAft>
                <a:spcPts val="600"/>
              </a:spcAft>
            </a:pPr>
            <a:r>
              <a:rPr b="0" sz="1100">
                <a:solidFill>
                  <a:srgbClr val="F8FAFC"/>
                </a:solidFill>
              </a:rPr>
              <a:t>Z-Score Normalization: Normalized against healthy baseline distribution (mu_i, sigma_i):</a:t>
            </a:r>
          </a:p>
          <a:p>
            <a:pPr>
              <a:spcAft>
                <a:spcPts val="600"/>
              </a:spcAft>
            </a:pPr>
            <a:r>
              <a:rPr b="1" sz="1100">
                <a:solidFill>
                  <a:srgbClr val="38BDF8"/>
                </a:solidFill>
              </a:rPr>
              <a:t>Z-Score: </a:t>
            </a:r>
            <a:r>
              <a:rPr b="0" sz="1100">
                <a:solidFill>
                  <a:srgbClr val="10B981"/>
                </a:solidFill>
              </a:rPr>
              <a:t>z_i(t) = max(0, (R_i(t) - mu_i) / sigma_i)</a:t>
            </a:r>
          </a:p>
          <a:p>
            <a:pPr>
              <a:spcAft>
                <a:spcPts val="600"/>
              </a:spcAft>
            </a:pPr>
            <a:r>
              <a:rPr b="0" sz="1100">
                <a:solidFill>
                  <a:srgbClr val="F8FAFC"/>
                </a:solidFill>
              </a:rPr>
              <a:t>Composite Health Index (CHI): Exponential degradation decay reflecting overall machine integrity:</a:t>
            </a:r>
          </a:p>
          <a:p>
            <a:pPr>
              <a:spcAft>
                <a:spcPts val="600"/>
              </a:spcAft>
            </a:pPr>
            <a:r>
              <a:rPr b="1" sz="1100">
                <a:solidFill>
                  <a:srgbClr val="38BDF8"/>
                </a:solidFill>
              </a:rPr>
              <a:t>CHI Index: </a:t>
            </a:r>
            <a:r>
              <a:rPr b="0" sz="1100">
                <a:solidFill>
                  <a:srgbClr val="F59E0B"/>
                </a:solidFill>
              </a:rPr>
              <a:t>CHI(t) = 100 * exp(-0.25 * sum(w_i * z_i(t))) in [0, 100%]</a:t>
            </a:r>
          </a:p>
          <a:p>
            <a:pPr>
              <a:spcAft>
                <a:spcPts val="600"/>
              </a:spcAft>
            </a:pPr>
            <a:r>
              <a:rPr b="0" sz="1100">
                <a:solidFill>
                  <a:srgbClr val="F8FAFC"/>
                </a:solidFill>
              </a:rPr>
              <a:t>Weighted Sensitivity: Vibration RMS (25%), Peak (20%), Temp (15%), RPM/Current/Pressure/Acoustic (10% each).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38BDF8"/>
                </a:solidFill>
              </a:defRPr>
            </a:pPr>
            <a:r>
              <a:t>MACHINE LEARNING ENSEMBLE FORMULATION</a:t>
            </a:r>
          </a:p>
          <a:p>
            <a:pPr>
              <a:spcAft>
                <a:spcPts val="300"/>
              </a:spcAft>
              <a:defRPr sz="2400" b="1">
                <a:solidFill>
                  <a:srgbClr val="F8FAFC"/>
                </a:solidFill>
              </a:defRPr>
            </a:pPr>
            <a:r>
              <a:t>Two-Stage Architecture for Ultra-Low Latency Inference</a:t>
            </a:r>
          </a:p>
          <a:p>
            <a:pPr>
              <a:defRPr sz="1200">
                <a:solidFill>
                  <a:srgbClr val="94A3B8"/>
                </a:solidFill>
              </a:defRPr>
            </a:pPr>
            <a:r>
              <a:t>14-Dimensional Feature Vector: 7 Raw Signals + 7 Digital Twin Residuals</a:t>
            </a:r>
          </a:p>
        </p:txBody>
      </p:sp>
      <p:sp>
        <p:nvSpPr>
          <p:cNvPr id="4" name="Rounded Rectangle 3"/>
          <p:cNvSpPr/>
          <p:nvPr/>
        </p:nvSpPr>
        <p:spPr>
          <a:xfrm>
            <a:off x="731520" y="1645920"/>
            <a:ext cx="33832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3017520" cy="4297680"/>
          </a:xfrm>
          <a:prstGeom prst="rect">
            <a:avLst/>
          </a:prstGeom>
          <a:noFill/>
        </p:spPr>
        <p:txBody>
          <a:bodyPr wrap="square" lIns="0" tIns="0" rIns="0" bIns="0">
            <a:spAutoFit/>
          </a:bodyPr>
          <a:lstStyle/>
          <a:p>
            <a:pPr>
              <a:spcAft>
                <a:spcPts val="800"/>
              </a:spcAft>
              <a:defRPr sz="1400" b="1">
                <a:solidFill>
                  <a:srgbClr val="38BDF8"/>
                </a:solidFill>
              </a:defRPr>
            </a:pPr>
            <a:r>
              <a:t>Stage 1: Ultra-Fast Binary Screener</a:t>
            </a:r>
          </a:p>
          <a:p>
            <a:pPr>
              <a:spcAft>
                <a:spcPts val="600"/>
              </a:spcAft>
            </a:pPr>
            <a:r>
              <a:rPr b="1" sz="1100">
                <a:solidFill>
                  <a:srgbClr val="38BDF8"/>
                </a:solidFill>
              </a:rPr>
              <a:t>Algorithm: </a:t>
            </a:r>
            <a:r>
              <a:rPr b="0" sz="1100">
                <a:solidFill>
                  <a:srgbClr val="F8FAFC"/>
                </a:solidFill>
              </a:rPr>
              <a:t>Linear SGDClassifier with modified Huber loss and L2 penalty.</a:t>
            </a:r>
          </a:p>
          <a:p>
            <a:pPr>
              <a:spcAft>
                <a:spcPts val="600"/>
              </a:spcAft>
            </a:pPr>
            <a:r>
              <a:rPr b="1" sz="1100">
                <a:solidFill>
                  <a:srgbClr val="38BDF8"/>
                </a:solidFill>
              </a:rPr>
              <a:t>Role: </a:t>
            </a:r>
            <a:r>
              <a:rPr b="0" sz="1100">
                <a:solidFill>
                  <a:srgbClr val="F8FAFC"/>
                </a:solidFill>
              </a:rPr>
              <a:t>Screens incoming 14-D packets to determine if condition is Normal vs Anomaly.</a:t>
            </a:r>
          </a:p>
          <a:p>
            <a:pPr>
              <a:spcAft>
                <a:spcPts val="600"/>
              </a:spcAft>
            </a:pPr>
            <a:r>
              <a:rPr b="1" sz="1100">
                <a:solidFill>
                  <a:srgbClr val="38BDF8"/>
                </a:solidFill>
              </a:rPr>
              <a:t>Inference Speed: </a:t>
            </a:r>
            <a:r>
              <a:rPr b="0" sz="1100">
                <a:solidFill>
                  <a:srgbClr val="F8FAFC"/>
                </a:solidFill>
              </a:rPr>
              <a:t>Sub-millisecond (~1.2 – 1.5 ms).</a:t>
            </a:r>
          </a:p>
          <a:p>
            <a:pPr>
              <a:spcAft>
                <a:spcPts val="600"/>
              </a:spcAft>
            </a:pPr>
            <a:r>
              <a:rPr b="1" sz="1100">
                <a:solidFill>
                  <a:srgbClr val="38BDF8"/>
                </a:solidFill>
              </a:rPr>
              <a:t>Key Innovation: </a:t>
            </a:r>
            <a:r>
              <a:rPr b="0" sz="1100">
                <a:solidFill>
                  <a:srgbClr val="F8FAFC"/>
                </a:solidFill>
              </a:rPr>
              <a:t>Fast Path Bypass: If P(anomaly) &lt; 0.45, packet is flagged Normal and Stage 2 is completely bypassed!</a:t>
            </a:r>
          </a:p>
          <a:p>
            <a:pPr>
              <a:spcAft>
                <a:spcPts val="600"/>
              </a:spcAft>
            </a:pPr>
            <a:r>
              <a:rPr b="0" sz="1100">
                <a:solidFill>
                  <a:srgbClr val="F8FAFC"/>
                </a:solidFill>
              </a:rPr>
              <a:t>Over 95% of industrial runtime is normal; bypassing Stage 2 saves massive compute and preserves edge responsiveness.</a:t>
            </a:r>
          </a:p>
        </p:txBody>
      </p:sp>
      <p:sp>
        <p:nvSpPr>
          <p:cNvPr id="6" name="Rounded Rectangle 5"/>
          <p:cNvSpPr/>
          <p:nvPr/>
        </p:nvSpPr>
        <p:spPr>
          <a:xfrm>
            <a:off x="4389120" y="1645920"/>
            <a:ext cx="33832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783080"/>
            <a:ext cx="3017520" cy="4297680"/>
          </a:xfrm>
          <a:prstGeom prst="rect">
            <a:avLst/>
          </a:prstGeom>
          <a:noFill/>
        </p:spPr>
        <p:txBody>
          <a:bodyPr wrap="square" lIns="0" tIns="0" rIns="0" bIns="0">
            <a:spAutoFit/>
          </a:bodyPr>
          <a:lstStyle/>
          <a:p>
            <a:pPr>
              <a:spcAft>
                <a:spcPts val="800"/>
              </a:spcAft>
              <a:defRPr sz="1400" b="1">
                <a:solidFill>
                  <a:srgbClr val="F59E0B"/>
                </a:solidFill>
              </a:defRPr>
            </a:pPr>
            <a:r>
              <a:t>Stage 2: Diagnostic Fault Classifier</a:t>
            </a:r>
          </a:p>
          <a:p>
            <a:pPr>
              <a:spcAft>
                <a:spcPts val="600"/>
              </a:spcAft>
            </a:pPr>
            <a:r>
              <a:rPr b="1" sz="1100">
                <a:solidFill>
                  <a:srgbClr val="38BDF8"/>
                </a:solidFill>
              </a:rPr>
              <a:t>Algorithm: </a:t>
            </a:r>
            <a:r>
              <a:rPr b="0" sz="1100">
                <a:solidFill>
                  <a:srgbClr val="F8FAFC"/>
                </a:solidFill>
              </a:rPr>
              <a:t>Extremely Randomized Trees (ExtraTreesClassifier, 60 estimators, max depth 16).</a:t>
            </a:r>
          </a:p>
          <a:p>
            <a:pPr>
              <a:spcAft>
                <a:spcPts val="600"/>
              </a:spcAft>
            </a:pPr>
            <a:r>
              <a:rPr b="1" sz="1100">
                <a:solidFill>
                  <a:srgbClr val="38BDF8"/>
                </a:solidFill>
              </a:rPr>
              <a:t>Execution Trigger: </a:t>
            </a:r>
            <a:r>
              <a:rPr b="0" sz="1100">
                <a:solidFill>
                  <a:srgbClr val="F8FAFC"/>
                </a:solidFill>
              </a:rPr>
              <a:t>Activated ONLY when Stage 1 flags an anomaly (P &gt;= 0.45).</a:t>
            </a:r>
          </a:p>
          <a:p>
            <a:pPr>
              <a:spcAft>
                <a:spcPts val="600"/>
              </a:spcAft>
            </a:pPr>
            <a:r>
              <a:rPr b="1" sz="1100">
                <a:solidFill>
                  <a:srgbClr val="38BDF8"/>
                </a:solidFill>
              </a:rPr>
              <a:t>Diagnostic Role: </a:t>
            </a:r>
            <a:r>
              <a:rPr b="0" sz="1100">
                <a:solidFill>
                  <a:srgbClr val="F8FAFC"/>
                </a:solidFill>
              </a:rPr>
              <a:t>Precisely diagnoses the failure mode into 5 distinct fault classes with confidence scoring.</a:t>
            </a:r>
          </a:p>
          <a:p>
            <a:pPr>
              <a:spcAft>
                <a:spcPts val="600"/>
              </a:spcAft>
            </a:pPr>
            <a:r>
              <a:rPr b="1" sz="1100">
                <a:solidFill>
                  <a:srgbClr val="38BDF8"/>
                </a:solidFill>
              </a:rPr>
              <a:t>Inference Speed: </a:t>
            </a:r>
            <a:r>
              <a:rPr b="0" sz="1100">
                <a:solidFill>
                  <a:srgbClr val="F8FAFC"/>
                </a:solidFill>
              </a:rPr>
              <a:t>~3.0 – 3.3 ms.</a:t>
            </a:r>
          </a:p>
          <a:p>
            <a:pPr>
              <a:spcAft>
                <a:spcPts val="600"/>
              </a:spcAft>
            </a:pPr>
            <a:r>
              <a:rPr b="0" sz="1100">
                <a:solidFill>
                  <a:srgbClr val="F8FAFC"/>
                </a:solidFill>
              </a:rPr>
              <a:t>High ensemble capacity eliminates single-tree variance and provides rock-solid reliability.</a:t>
            </a:r>
          </a:p>
        </p:txBody>
      </p:sp>
      <p:sp>
        <p:nvSpPr>
          <p:cNvPr id="8" name="Rounded Rectangle 7"/>
          <p:cNvSpPr/>
          <p:nvPr/>
        </p:nvSpPr>
        <p:spPr>
          <a:xfrm>
            <a:off x="8046720" y="1645920"/>
            <a:ext cx="33832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783080"/>
            <a:ext cx="3017520" cy="4297680"/>
          </a:xfrm>
          <a:prstGeom prst="rect">
            <a:avLst/>
          </a:prstGeom>
          <a:noFill/>
        </p:spPr>
        <p:txBody>
          <a:bodyPr wrap="square" lIns="0" tIns="0" rIns="0" bIns="0">
            <a:spAutoFit/>
          </a:bodyPr>
          <a:lstStyle/>
          <a:p>
            <a:pPr>
              <a:spcAft>
                <a:spcPts val="800"/>
              </a:spcAft>
              <a:defRPr sz="1400" b="1">
                <a:solidFill>
                  <a:srgbClr val="10B981"/>
                </a:solidFill>
              </a:defRPr>
            </a:pPr>
            <a:r>
              <a:t>End-to-End Latency Budget</a:t>
            </a:r>
          </a:p>
          <a:p>
            <a:pPr>
              <a:spcAft>
                <a:spcPts val="600"/>
              </a:spcAft>
            </a:pPr>
            <a:r>
              <a:rPr b="1" sz="1100">
                <a:solidFill>
                  <a:srgbClr val="38BDF8"/>
                </a:solidFill>
              </a:rPr>
              <a:t>Fast Path: </a:t>
            </a:r>
            <a:r>
              <a:rPr b="0" sz="1100">
                <a:solidFill>
                  <a:srgbClr val="F8FAFC"/>
                </a:solidFill>
              </a:rPr>
              <a:t>Normal Operation (Fast Path): ~1.5 ms total delay.</a:t>
            </a:r>
          </a:p>
          <a:p>
            <a:pPr>
              <a:spcAft>
                <a:spcPts val="600"/>
              </a:spcAft>
            </a:pPr>
            <a:r>
              <a:rPr b="1" sz="1100">
                <a:solidFill>
                  <a:srgbClr val="38BDF8"/>
                </a:solidFill>
              </a:rPr>
              <a:t>Diagnostic Path: </a:t>
            </a:r>
            <a:r>
              <a:rPr b="0" sz="1100">
                <a:solidFill>
                  <a:srgbClr val="F8FAFC"/>
                </a:solidFill>
              </a:rPr>
              <a:t>Fault Diagnosis (Full Path): ~4.78 ms total delay.</a:t>
            </a:r>
          </a:p>
          <a:p>
            <a:pPr>
              <a:spcAft>
                <a:spcPts val="600"/>
              </a:spcAft>
            </a:pPr>
            <a:r>
              <a:rPr b="1" sz="1100">
                <a:solidFill>
                  <a:srgbClr val="38BDF8"/>
                </a:solidFill>
              </a:rPr>
              <a:t>Benchmark Adherence: </a:t>
            </a:r>
            <a:r>
              <a:rPr b="0" sz="1100">
                <a:solidFill>
                  <a:srgbClr val="F8FAFC"/>
                </a:solidFill>
              </a:rPr>
              <a:t>Strictly adheres to Ranpariya &amp; Sharma (2025) benchmark threshold of &lt;= 4.80 ms.</a:t>
            </a:r>
          </a:p>
          <a:p>
            <a:pPr>
              <a:spcAft>
                <a:spcPts val="600"/>
              </a:spcAft>
            </a:pPr>
            <a:r>
              <a:rPr b="1" sz="1100">
                <a:solidFill>
                  <a:srgbClr val="38BDF8"/>
                </a:solidFill>
              </a:rPr>
              <a:t>Comparison to DL: </a:t>
            </a:r>
            <a:r>
              <a:rPr b="0" sz="1100">
                <a:solidFill>
                  <a:srgbClr val="F8FAFC"/>
                </a:solidFill>
              </a:rPr>
              <a:t>10x to 15x faster than Deep Learning LSTMs/Transformers (&gt;50 ms) while exceeding 99.9% accuracy.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38BDF8"/>
                </a:solidFill>
              </a:defRPr>
            </a:pPr>
            <a:r>
              <a:t>STREAMING INFRASTRUCTURE &amp; BIG DATA STACK</a:t>
            </a:r>
          </a:p>
          <a:p>
            <a:pPr>
              <a:spcAft>
                <a:spcPts val="300"/>
              </a:spcAft>
              <a:defRPr sz="2400" b="1">
                <a:solidFill>
                  <a:srgbClr val="F8FAFC"/>
                </a:solidFill>
              </a:defRPr>
            </a:pPr>
            <a:r>
              <a:t>Apache Kafka &amp; Spark Structured Streaming Integration</a:t>
            </a:r>
          </a:p>
          <a:p>
            <a:pPr>
              <a:defRPr sz="1200">
                <a:solidFill>
                  <a:srgbClr val="94A3B8"/>
                </a:solidFill>
              </a:defRPr>
            </a:pPr>
            <a:r>
              <a:t>High-throughput ingestion, event-time watermarking, and sliding window analytics</a:t>
            </a:r>
          </a:p>
        </p:txBody>
      </p:sp>
      <p:sp>
        <p:nvSpPr>
          <p:cNvPr id="4" name="Rounded Rectangle 3"/>
          <p:cNvSpPr/>
          <p:nvPr/>
        </p:nvSpPr>
        <p:spPr>
          <a:xfrm>
            <a:off x="7315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846320" cy="4297680"/>
          </a:xfrm>
          <a:prstGeom prst="rect">
            <a:avLst/>
          </a:prstGeom>
          <a:noFill/>
        </p:spPr>
        <p:txBody>
          <a:bodyPr wrap="square" lIns="0" tIns="0" rIns="0" bIns="0">
            <a:spAutoFit/>
          </a:bodyPr>
          <a:lstStyle/>
          <a:p>
            <a:pPr>
              <a:spcAft>
                <a:spcPts val="800"/>
              </a:spcAft>
              <a:defRPr sz="1400" b="1">
                <a:solidFill>
                  <a:srgbClr val="38BDF8"/>
                </a:solidFill>
              </a:defRPr>
            </a:pPr>
            <a:r>
              <a:t>Apache Kafka Message Broker</a:t>
            </a:r>
          </a:p>
          <a:p>
            <a:pPr>
              <a:spcAft>
                <a:spcPts val="600"/>
              </a:spcAft>
            </a:pPr>
            <a:r>
              <a:rPr b="1" sz="1100">
                <a:solidFill>
                  <a:srgbClr val="38BDF8"/>
                </a:solidFill>
              </a:rPr>
              <a:t>Kafka Topic: </a:t>
            </a:r>
            <a:r>
              <a:rPr b="0" sz="1100">
                <a:solidFill>
                  <a:srgbClr val="F8FAFC"/>
                </a:solidFill>
              </a:rPr>
              <a:t>iiot-sensor-stream (keyed by asset_id: TWIN-MTR-01).</a:t>
            </a:r>
          </a:p>
          <a:p>
            <a:pPr>
              <a:spcAft>
                <a:spcPts val="600"/>
              </a:spcAft>
            </a:pPr>
            <a:r>
              <a:rPr b="1" sz="1100">
                <a:solidFill>
                  <a:srgbClr val="38BDF8"/>
                </a:solidFill>
              </a:rPr>
              <a:t>Ingestion Cadence: </a:t>
            </a:r>
            <a:r>
              <a:rPr b="0" sz="1100">
                <a:solidFill>
                  <a:srgbClr val="F8FAFC"/>
                </a:solidFill>
              </a:rPr>
              <a:t>10 Hz continuous telemetry publication (100 ms intervals).</a:t>
            </a:r>
          </a:p>
          <a:p>
            <a:pPr>
              <a:spcAft>
                <a:spcPts val="600"/>
              </a:spcAft>
            </a:pPr>
            <a:r>
              <a:rPr b="1" sz="1100">
                <a:solidFill>
                  <a:srgbClr val="38BDF8"/>
                </a:solidFill>
              </a:rPr>
              <a:t>Payload Schema: </a:t>
            </a:r>
            <a:r>
              <a:rPr b="0" sz="1100">
                <a:solidFill>
                  <a:srgbClr val="F8FAFC"/>
                </a:solidFill>
              </a:rPr>
              <a:t>Strict JSON schema containing timestamp, mechanical, electrical, thermal channels, and fault metadata.</a:t>
            </a:r>
          </a:p>
          <a:p>
            <a:pPr>
              <a:spcAft>
                <a:spcPts val="600"/>
              </a:spcAft>
            </a:pPr>
            <a:r>
              <a:rPr b="1" sz="1100">
                <a:solidFill>
                  <a:srgbClr val="38BDF8"/>
                </a:solidFill>
              </a:rPr>
              <a:t>Producer Implementation: </a:t>
            </a:r>
            <a:r>
              <a:rPr b="0" sz="1100">
                <a:solidFill>
                  <a:srgbClr val="F8FAFC"/>
                </a:solidFill>
              </a:rPr>
              <a:t>Built in streaming/kafka_producer.py with retry policies and fallback buffer.</a:t>
            </a:r>
          </a:p>
          <a:p>
            <a:pPr>
              <a:spcAft>
                <a:spcPts val="600"/>
              </a:spcAft>
            </a:pPr>
            <a:r>
              <a:rPr b="1" sz="1100">
                <a:solidFill>
                  <a:srgbClr val="38BDF8"/>
                </a:solidFill>
              </a:rPr>
              <a:t>Deployment: </a:t>
            </a:r>
            <a:r>
              <a:rPr b="0" sz="1100">
                <a:solidFill>
                  <a:srgbClr val="F8FAFC"/>
                </a:solidFill>
              </a:rPr>
              <a:t>confluentinc/cp-kafka:7.6.1 KRaft-based broker on port 9092 via Docker Compose.</a:t>
            </a:r>
          </a:p>
        </p:txBody>
      </p:sp>
      <p:sp>
        <p:nvSpPr>
          <p:cNvPr id="6" name="Rounded Rectangle 5"/>
          <p:cNvSpPr/>
          <p:nvPr/>
        </p:nvSpPr>
        <p:spPr>
          <a:xfrm>
            <a:off x="62179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83080"/>
            <a:ext cx="4846320" cy="4297680"/>
          </a:xfrm>
          <a:prstGeom prst="rect">
            <a:avLst/>
          </a:prstGeom>
          <a:noFill/>
        </p:spPr>
        <p:txBody>
          <a:bodyPr wrap="square" lIns="0" tIns="0" rIns="0" bIns="0">
            <a:spAutoFit/>
          </a:bodyPr>
          <a:lstStyle/>
          <a:p>
            <a:pPr>
              <a:spcAft>
                <a:spcPts val="800"/>
              </a:spcAft>
              <a:defRPr sz="1400" b="1">
                <a:solidFill>
                  <a:srgbClr val="F59E0B"/>
                </a:solidFill>
              </a:defRPr>
            </a:pPr>
            <a:r>
              <a:t>Spark Structured Streaming Analytics</a:t>
            </a:r>
          </a:p>
          <a:p>
            <a:pPr>
              <a:spcAft>
                <a:spcPts val="600"/>
              </a:spcAft>
            </a:pPr>
            <a:r>
              <a:rPr b="1" sz="1100">
                <a:solidFill>
                  <a:srgbClr val="38BDF8"/>
                </a:solidFill>
              </a:rPr>
              <a:t>Kafka Source Connector: </a:t>
            </a:r>
            <a:r>
              <a:rPr b="0" sz="1100">
                <a:solidFill>
                  <a:srgbClr val="F8FAFC"/>
                </a:solidFill>
              </a:rPr>
              <a:t>Direct streaming connector using spark.readStream.format('kafka').</a:t>
            </a:r>
          </a:p>
          <a:p>
            <a:pPr>
              <a:spcAft>
                <a:spcPts val="600"/>
              </a:spcAft>
            </a:pPr>
            <a:r>
              <a:rPr b="1" sz="1100">
                <a:solidFill>
                  <a:srgbClr val="38BDF8"/>
                </a:solidFill>
              </a:rPr>
              <a:t>Event-Time Watermark: </a:t>
            </a:r>
            <a:r>
              <a:rPr b="0" sz="1100">
                <a:solidFill>
                  <a:srgbClr val="F8FAFC"/>
                </a:solidFill>
              </a:rPr>
              <a:t>spark.withWatermark('event_time', '10 seconds') to handle out-of-order network arrival cleanly.</a:t>
            </a:r>
          </a:p>
          <a:p>
            <a:pPr>
              <a:spcAft>
                <a:spcPts val="600"/>
              </a:spcAft>
            </a:pPr>
            <a:r>
              <a:rPr b="1" sz="1100">
                <a:solidFill>
                  <a:srgbClr val="38BDF8"/>
                </a:solidFill>
              </a:rPr>
              <a:t>Sliding Window Aggregates: </a:t>
            </a:r>
            <a:r>
              <a:rPr b="0" sz="1100">
                <a:solidFill>
                  <a:srgbClr val="F8FAFC"/>
                </a:solidFill>
              </a:rPr>
              <a:t>window(col('event_time'), '5 seconds', '1 second') computes rolling analytics updated every second.</a:t>
            </a:r>
          </a:p>
          <a:p>
            <a:pPr>
              <a:spcAft>
                <a:spcPts val="600"/>
              </a:spcAft>
            </a:pPr>
            <a:r>
              <a:rPr b="1" sz="1100">
                <a:solidFill>
                  <a:srgbClr val="38BDF8"/>
                </a:solidFill>
              </a:rPr>
              <a:t>Rolling Metrics: </a:t>
            </a:r>
            <a:r>
              <a:rPr b="0" sz="1100">
                <a:solidFill>
                  <a:srgbClr val="F8FAFC"/>
                </a:solidFill>
              </a:rPr>
              <a:t>Computes rolling average vibration RMS, peak velocity, winding temperature, and current draw.</a:t>
            </a:r>
          </a:p>
          <a:p>
            <a:pPr>
              <a:spcAft>
                <a:spcPts val="600"/>
              </a:spcAft>
            </a:pPr>
            <a:r>
              <a:rPr b="1" sz="1100">
                <a:solidFill>
                  <a:srgbClr val="38BDF8"/>
                </a:solidFill>
              </a:rPr>
              <a:t>Dual Execution Mode: </a:t>
            </a:r>
            <a:r>
              <a:rPr b="0" sz="1100">
                <a:solidFill>
                  <a:srgbClr val="F8FAFC"/>
                </a:solidFill>
              </a:rPr>
              <a:t>Engine supports both distributed Kafka/Spark and a zero-dependency in-process streaming engine for standalone demo reliability.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38BDF8"/>
                </a:solidFill>
              </a:defRPr>
            </a:pPr>
            <a:r>
              <a:t>INDUSTRIAL CONDITION MONITORING TAXONOMY</a:t>
            </a:r>
          </a:p>
          <a:p>
            <a:pPr>
              <a:spcAft>
                <a:spcPts val="300"/>
              </a:spcAft>
              <a:defRPr sz="2400" b="1">
                <a:solidFill>
                  <a:srgbClr val="F8FAFC"/>
                </a:solidFill>
              </a:defRPr>
            </a:pPr>
            <a:r>
              <a:t>Six Operational Regimes &amp; Physical Fault Signatures</a:t>
            </a:r>
          </a:p>
          <a:p>
            <a:pPr>
              <a:defRPr sz="1200">
                <a:solidFill>
                  <a:srgbClr val="94A3B8"/>
                </a:solidFill>
              </a:defRPr>
            </a:pPr>
            <a:r>
              <a:t>Grounding simulated fault behavior in ISO 10816 vibration standards and electrical failure mechanics</a:t>
            </a:r>
          </a:p>
        </p:txBody>
      </p:sp>
      <p:sp>
        <p:nvSpPr>
          <p:cNvPr id="4" name="Rounded Rectangle 3"/>
          <p:cNvSpPr/>
          <p:nvPr/>
        </p:nvSpPr>
        <p:spPr>
          <a:xfrm>
            <a:off x="731520" y="1645920"/>
            <a:ext cx="521208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846320" cy="1051560"/>
          </a:xfrm>
          <a:prstGeom prst="rect">
            <a:avLst/>
          </a:prstGeom>
          <a:noFill/>
        </p:spPr>
        <p:txBody>
          <a:bodyPr wrap="square" lIns="0" tIns="0" rIns="0" bIns="0">
            <a:spAutoFit/>
          </a:bodyPr>
          <a:lstStyle/>
          <a:p>
            <a:pPr>
              <a:spcAft>
                <a:spcPts val="800"/>
              </a:spcAft>
              <a:defRPr sz="1400" b="1">
                <a:solidFill>
                  <a:srgbClr val="10B981"/>
                </a:solidFill>
              </a:defRPr>
            </a:pPr>
            <a:r>
              <a:t>Class 0: Normal Operation</a:t>
            </a:r>
          </a:p>
          <a:p>
            <a:pPr>
              <a:spcAft>
                <a:spcPts val="600"/>
              </a:spcAft>
            </a:pPr>
            <a:r>
              <a:rPr b="1" sz="1000">
                <a:solidFill>
                  <a:srgbClr val="38BDF8"/>
                </a:solidFill>
              </a:rPr>
              <a:t>Physical Signature: </a:t>
            </a:r>
            <a:r>
              <a:rPr b="0" sz="1000">
                <a:solidFill>
                  <a:srgbClr val="F8FAFC"/>
                </a:solidFill>
              </a:rPr>
              <a:t>Baseline nominal load; CHI = 95–100%; Stage 1 fast path active; all residuals near 0.</a:t>
            </a:r>
          </a:p>
        </p:txBody>
      </p:sp>
      <p:sp>
        <p:nvSpPr>
          <p:cNvPr id="6" name="Rounded Rectangle 5"/>
          <p:cNvSpPr/>
          <p:nvPr/>
        </p:nvSpPr>
        <p:spPr>
          <a:xfrm>
            <a:off x="6126480" y="1645920"/>
            <a:ext cx="521208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783080"/>
            <a:ext cx="4846320" cy="1051560"/>
          </a:xfrm>
          <a:prstGeom prst="rect">
            <a:avLst/>
          </a:prstGeom>
          <a:noFill/>
        </p:spPr>
        <p:txBody>
          <a:bodyPr wrap="square" lIns="0" tIns="0" rIns="0" bIns="0">
            <a:spAutoFit/>
          </a:bodyPr>
          <a:lstStyle/>
          <a:p>
            <a:pPr>
              <a:spcAft>
                <a:spcPts val="800"/>
              </a:spcAft>
              <a:defRPr sz="1400" b="1">
                <a:solidFill>
                  <a:srgbClr val="EF4444"/>
                </a:solidFill>
              </a:defRPr>
            </a:pPr>
            <a:r>
              <a:t>Class 1: Bearing Race Degradation</a:t>
            </a:r>
          </a:p>
          <a:p>
            <a:pPr>
              <a:spcAft>
                <a:spcPts val="600"/>
              </a:spcAft>
            </a:pPr>
            <a:r>
              <a:rPr b="1" sz="1000">
                <a:solidFill>
                  <a:srgbClr val="38BDF8"/>
                </a:solidFill>
              </a:rPr>
              <a:t>Physical Signature: </a:t>
            </a:r>
            <a:r>
              <a:rPr b="0" sz="1000">
                <a:solidFill>
                  <a:srgbClr val="F8FAFC"/>
                </a:solidFill>
              </a:rPr>
              <a:t>ISO 10816 Class II/III breach; severe RMS &amp; peak vibration spike; high acoustic friction.</a:t>
            </a:r>
          </a:p>
        </p:txBody>
      </p:sp>
      <p:sp>
        <p:nvSpPr>
          <p:cNvPr id="8" name="Rounded Rectangle 7"/>
          <p:cNvSpPr/>
          <p:nvPr/>
        </p:nvSpPr>
        <p:spPr>
          <a:xfrm>
            <a:off x="731520" y="3154680"/>
            <a:ext cx="521208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291840"/>
            <a:ext cx="4846320" cy="1051560"/>
          </a:xfrm>
          <a:prstGeom prst="rect">
            <a:avLst/>
          </a:prstGeom>
          <a:noFill/>
        </p:spPr>
        <p:txBody>
          <a:bodyPr wrap="square" lIns="0" tIns="0" rIns="0" bIns="0">
            <a:spAutoFit/>
          </a:bodyPr>
          <a:lstStyle/>
          <a:p>
            <a:pPr>
              <a:spcAft>
                <a:spcPts val="800"/>
              </a:spcAft>
              <a:defRPr sz="1400" b="1">
                <a:solidFill>
                  <a:srgbClr val="F59E0B"/>
                </a:solidFill>
              </a:defRPr>
            </a:pPr>
            <a:r>
              <a:t>Class 2: Stator Winding Overheat</a:t>
            </a:r>
          </a:p>
          <a:p>
            <a:pPr>
              <a:spcAft>
                <a:spcPts val="600"/>
              </a:spcAft>
            </a:pPr>
            <a:r>
              <a:rPr b="1" sz="1000">
                <a:solidFill>
                  <a:srgbClr val="38BDF8"/>
                </a:solidFill>
              </a:rPr>
              <a:t>Physical Signature: </a:t>
            </a:r>
            <a:r>
              <a:rPr b="0" sz="1000">
                <a:solidFill>
                  <a:srgbClr val="F8FAFC"/>
                </a:solidFill>
              </a:rPr>
              <a:t>Thermal runaway (winding temp &gt;85°C); elevated current draw due to insulation breakdown.</a:t>
            </a:r>
          </a:p>
        </p:txBody>
      </p:sp>
      <p:sp>
        <p:nvSpPr>
          <p:cNvPr id="10" name="Rounded Rectangle 9"/>
          <p:cNvSpPr/>
          <p:nvPr/>
        </p:nvSpPr>
        <p:spPr>
          <a:xfrm>
            <a:off x="6126480" y="3154680"/>
            <a:ext cx="521208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3291840"/>
            <a:ext cx="4846320" cy="1051560"/>
          </a:xfrm>
          <a:prstGeom prst="rect">
            <a:avLst/>
          </a:prstGeom>
          <a:noFill/>
        </p:spPr>
        <p:txBody>
          <a:bodyPr wrap="square" lIns="0" tIns="0" rIns="0" bIns="0">
            <a:spAutoFit/>
          </a:bodyPr>
          <a:lstStyle/>
          <a:p>
            <a:pPr>
              <a:spcAft>
                <a:spcPts val="800"/>
              </a:spcAft>
              <a:defRPr sz="1400" b="1">
                <a:solidFill>
                  <a:srgbClr val="38BDF8"/>
                </a:solidFill>
              </a:defRPr>
            </a:pPr>
            <a:r>
              <a:t>Class 3: Dynamic Rotor Imbalance</a:t>
            </a:r>
          </a:p>
          <a:p>
            <a:pPr>
              <a:spcAft>
                <a:spcPts val="600"/>
              </a:spcAft>
            </a:pPr>
            <a:r>
              <a:rPr b="1" sz="1000">
                <a:solidFill>
                  <a:srgbClr val="38BDF8"/>
                </a:solidFill>
              </a:rPr>
              <a:t>Physical Signature: </a:t>
            </a:r>
            <a:r>
              <a:rPr b="0" sz="1000">
                <a:solidFill>
                  <a:srgbClr val="F8FAFC"/>
                </a:solidFill>
              </a:rPr>
              <a:t>1X rotational frequency vibration harmonics; sinusoidal mechanical oscillation.</a:t>
            </a:r>
          </a:p>
        </p:txBody>
      </p:sp>
      <p:sp>
        <p:nvSpPr>
          <p:cNvPr id="12" name="Rounded Rectangle 11"/>
          <p:cNvSpPr/>
          <p:nvPr/>
        </p:nvSpPr>
        <p:spPr>
          <a:xfrm>
            <a:off x="731520" y="4663440"/>
            <a:ext cx="521208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800600"/>
            <a:ext cx="4846320" cy="1051560"/>
          </a:xfrm>
          <a:prstGeom prst="rect">
            <a:avLst/>
          </a:prstGeom>
          <a:noFill/>
        </p:spPr>
        <p:txBody>
          <a:bodyPr wrap="square" lIns="0" tIns="0" rIns="0" bIns="0">
            <a:spAutoFit/>
          </a:bodyPr>
          <a:lstStyle/>
          <a:p>
            <a:pPr>
              <a:spcAft>
                <a:spcPts val="800"/>
              </a:spcAft>
              <a:defRPr sz="1400" b="1">
                <a:solidFill>
                  <a:srgbClr val="EF4444"/>
                </a:solidFill>
              </a:defRPr>
            </a:pPr>
            <a:r>
              <a:t>Class 4: Hydraulic Cavitation</a:t>
            </a:r>
          </a:p>
          <a:p>
            <a:pPr>
              <a:spcAft>
                <a:spcPts val="600"/>
              </a:spcAft>
            </a:pPr>
            <a:r>
              <a:rPr b="1" sz="1000">
                <a:solidFill>
                  <a:srgbClr val="38BDF8"/>
                </a:solidFill>
              </a:rPr>
              <a:t>Physical Signature: </a:t>
            </a:r>
            <a:r>
              <a:rPr b="0" sz="1000">
                <a:solidFill>
                  <a:srgbClr val="F8FAFC"/>
                </a:solidFill>
              </a:rPr>
              <a:t>Discharge pressure collapse (&lt;3.2 Bar); random vapor bubble collapse turbulence in pump.</a:t>
            </a:r>
          </a:p>
        </p:txBody>
      </p:sp>
      <p:sp>
        <p:nvSpPr>
          <p:cNvPr id="14" name="Rounded Rectangle 13"/>
          <p:cNvSpPr/>
          <p:nvPr/>
        </p:nvSpPr>
        <p:spPr>
          <a:xfrm>
            <a:off x="6126480" y="4663440"/>
            <a:ext cx="521208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4800600"/>
            <a:ext cx="4846320" cy="1051560"/>
          </a:xfrm>
          <a:prstGeom prst="rect">
            <a:avLst/>
          </a:prstGeom>
          <a:noFill/>
        </p:spPr>
        <p:txBody>
          <a:bodyPr wrap="square" lIns="0" tIns="0" rIns="0" bIns="0">
            <a:spAutoFit/>
          </a:bodyPr>
          <a:lstStyle/>
          <a:p>
            <a:pPr>
              <a:spcAft>
                <a:spcPts val="800"/>
              </a:spcAft>
              <a:defRPr sz="1400" b="1">
                <a:solidFill>
                  <a:srgbClr val="F59E0B"/>
                </a:solidFill>
              </a:defRPr>
            </a:pPr>
            <a:r>
              <a:t>Class 5: Sensor Drift / Bias</a:t>
            </a:r>
          </a:p>
          <a:p>
            <a:pPr>
              <a:spcAft>
                <a:spcPts val="600"/>
              </a:spcAft>
            </a:pPr>
            <a:r>
              <a:rPr b="1" sz="1000">
                <a:solidFill>
                  <a:srgbClr val="38BDF8"/>
                </a:solidFill>
              </a:rPr>
              <a:t>Physical Signature: </a:t>
            </a:r>
            <a:r>
              <a:rPr b="0" sz="1000">
                <a:solidFill>
                  <a:srgbClr val="F8FAFC"/>
                </a:solidFill>
              </a:rPr>
              <a:t>Calibration drift in single channel; physics twin model remains stable while residual spikes.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38BDF8"/>
                </a:solidFill>
              </a:defRPr>
            </a:pPr>
            <a:r>
              <a:t>OPERATIONS CONSOLE &amp; LIVE DEMONSTRATION</a:t>
            </a:r>
          </a:p>
          <a:p>
            <a:pPr>
              <a:spcAft>
                <a:spcPts val="300"/>
              </a:spcAft>
              <a:defRPr sz="2400" b="1">
                <a:solidFill>
                  <a:srgbClr val="F8FAFC"/>
                </a:solidFill>
              </a:defRPr>
            </a:pPr>
            <a:r>
              <a:t>Interactive HTML5 Canvas Digital Twin Dashboard</a:t>
            </a:r>
          </a:p>
          <a:p>
            <a:pPr>
              <a:defRPr sz="1200">
                <a:solidFill>
                  <a:srgbClr val="94A3B8"/>
                </a:solidFill>
              </a:defRPr>
            </a:pPr>
            <a:r>
              <a:t>Real-time visual twin animation, zero-dependency streaming charts, and dynamic fault injection deck</a:t>
            </a:r>
          </a:p>
        </p:txBody>
      </p:sp>
      <p:sp>
        <p:nvSpPr>
          <p:cNvPr id="4" name="Rounded Rectangle 3"/>
          <p:cNvSpPr/>
          <p:nvPr/>
        </p:nvSpPr>
        <p:spPr>
          <a:xfrm>
            <a:off x="731520" y="1645920"/>
            <a:ext cx="33832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3017520" cy="4297680"/>
          </a:xfrm>
          <a:prstGeom prst="rect">
            <a:avLst/>
          </a:prstGeom>
          <a:noFill/>
        </p:spPr>
        <p:txBody>
          <a:bodyPr wrap="square" lIns="0" tIns="0" rIns="0" bIns="0">
            <a:spAutoFit/>
          </a:bodyPr>
          <a:lstStyle/>
          <a:p>
            <a:pPr>
              <a:spcAft>
                <a:spcPts val="800"/>
              </a:spcAft>
              <a:defRPr sz="1400" b="1">
                <a:solidFill>
                  <a:srgbClr val="38BDF8"/>
                </a:solidFill>
              </a:defRPr>
            </a:pPr>
            <a:r>
              <a:t>1. 2D Canvas Digital Twin</a:t>
            </a:r>
          </a:p>
          <a:p>
            <a:pPr>
              <a:spcAft>
                <a:spcPts val="600"/>
              </a:spcAft>
            </a:pPr>
            <a:r>
              <a:rPr b="0" sz="1100">
                <a:solidFill>
                  <a:srgbClr val="F8FAFC"/>
                </a:solidFill>
              </a:rPr>
              <a:t>Dynamic Shaft Animation: Rotation velocity visually locked to live telemetry RPM.</a:t>
            </a:r>
          </a:p>
          <a:p>
            <a:pPr>
              <a:spcAft>
                <a:spcPts val="600"/>
              </a:spcAft>
            </a:pPr>
            <a:r>
              <a:rPr b="0" sz="1100">
                <a:solidFill>
                  <a:srgbClr val="F8FAFC"/>
                </a:solidFill>
              </a:rPr>
              <a:t>Thermal Heatmap Shader: Dynamic color shift from cool blue (50°C) to danger red (95°C) across motor windings.</a:t>
            </a:r>
          </a:p>
          <a:p>
            <a:pPr>
              <a:spcAft>
                <a:spcPts val="600"/>
              </a:spcAft>
            </a:pPr>
            <a:r>
              <a:rPr b="0" sz="1100">
                <a:solidFill>
                  <a:srgbClr val="F8FAFC"/>
                </a:solidFill>
              </a:rPr>
              <a:t>Vibration Waves: Amplitude displacement waves render structural vibration intensity in real time.</a:t>
            </a:r>
          </a:p>
          <a:p>
            <a:pPr>
              <a:spcAft>
                <a:spcPts val="600"/>
              </a:spcAft>
            </a:pPr>
            <a:r>
              <a:rPr b="0" sz="1100">
                <a:solidFill>
                  <a:srgbClr val="F8FAFC"/>
                </a:solidFill>
              </a:rPr>
              <a:t>Zero external library bloat; purely hardware-accelerated HTML5 Canvas.</a:t>
            </a:r>
          </a:p>
        </p:txBody>
      </p:sp>
      <p:sp>
        <p:nvSpPr>
          <p:cNvPr id="6" name="Rounded Rectangle 5"/>
          <p:cNvSpPr/>
          <p:nvPr/>
        </p:nvSpPr>
        <p:spPr>
          <a:xfrm>
            <a:off x="4389120" y="1645920"/>
            <a:ext cx="33832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783080"/>
            <a:ext cx="3017520" cy="4297680"/>
          </a:xfrm>
          <a:prstGeom prst="rect">
            <a:avLst/>
          </a:prstGeom>
          <a:noFill/>
        </p:spPr>
        <p:txBody>
          <a:bodyPr wrap="square" lIns="0" tIns="0" rIns="0" bIns="0">
            <a:spAutoFit/>
          </a:bodyPr>
          <a:lstStyle/>
          <a:p>
            <a:pPr>
              <a:spcAft>
                <a:spcPts val="800"/>
              </a:spcAft>
              <a:defRPr sz="1400" b="1">
                <a:solidFill>
                  <a:srgbClr val="10B981"/>
                </a:solidFill>
              </a:defRPr>
            </a:pPr>
            <a:r>
              <a:t>2. 60 FPS Streaming Charts</a:t>
            </a:r>
          </a:p>
          <a:p>
            <a:pPr>
              <a:spcAft>
                <a:spcPts val="600"/>
              </a:spcAft>
            </a:pPr>
            <a:r>
              <a:rPr b="0" sz="1100">
                <a:solidFill>
                  <a:srgbClr val="F8FAFC"/>
                </a:solidFill>
              </a:rPr>
              <a:t>Dual Synchronized Plots: Raw vibration vs Digital Twin expected baseline.</a:t>
            </a:r>
          </a:p>
          <a:p>
            <a:pPr>
              <a:spcAft>
                <a:spcPts val="600"/>
              </a:spcAft>
            </a:pPr>
            <a:r>
              <a:rPr b="0" sz="1100">
                <a:solidFill>
                  <a:srgbClr val="F8FAFC"/>
                </a:solidFill>
              </a:rPr>
              <a:t>Thermal dissipation curve vs live measured temperature.</a:t>
            </a:r>
          </a:p>
          <a:p>
            <a:pPr>
              <a:spcAft>
                <a:spcPts val="600"/>
              </a:spcAft>
            </a:pPr>
            <a:r>
              <a:rPr b="0" sz="1100">
                <a:solidFill>
                  <a:srgbClr val="F8FAFC"/>
                </a:solidFill>
              </a:rPr>
              <a:t>Continuous Composite Health Index (CHI%) gauge updating at 10 Hz.</a:t>
            </a:r>
          </a:p>
          <a:p>
            <a:pPr>
              <a:spcAft>
                <a:spcPts val="600"/>
              </a:spcAft>
            </a:pPr>
            <a:r>
              <a:rPr b="0" sz="1100">
                <a:solidFill>
                  <a:srgbClr val="F8FAFC"/>
                </a:solidFill>
              </a:rPr>
              <a:t>Live latency monitor rendering inference millisecond delay per packet.</a:t>
            </a:r>
          </a:p>
        </p:txBody>
      </p:sp>
      <p:sp>
        <p:nvSpPr>
          <p:cNvPr id="8" name="Rounded Rectangle 7"/>
          <p:cNvSpPr/>
          <p:nvPr/>
        </p:nvSpPr>
        <p:spPr>
          <a:xfrm>
            <a:off x="8046720" y="1645920"/>
            <a:ext cx="33832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783080"/>
            <a:ext cx="3017520" cy="4297680"/>
          </a:xfrm>
          <a:prstGeom prst="rect">
            <a:avLst/>
          </a:prstGeom>
          <a:noFill/>
        </p:spPr>
        <p:txBody>
          <a:bodyPr wrap="square" lIns="0" tIns="0" rIns="0" bIns="0">
            <a:spAutoFit/>
          </a:bodyPr>
          <a:lstStyle/>
          <a:p>
            <a:pPr>
              <a:spcAft>
                <a:spcPts val="800"/>
              </a:spcAft>
              <a:defRPr sz="1400" b="1">
                <a:solidFill>
                  <a:srgbClr val="F59E0B"/>
                </a:solidFill>
              </a:defRPr>
            </a:pPr>
            <a:r>
              <a:t>3. Fault Injection &amp; Audit Feed</a:t>
            </a:r>
          </a:p>
          <a:p>
            <a:pPr>
              <a:spcAft>
                <a:spcPts val="600"/>
              </a:spcAft>
            </a:pPr>
            <a:r>
              <a:rPr b="0" sz="1100">
                <a:solidFill>
                  <a:srgbClr val="F8FAFC"/>
                </a:solidFill>
              </a:rPr>
              <a:t>Live Fault Injection Deck: Interactive buttons to trigger Bearing Fault, Overheat, Imbalance, Cavitation, or Drift on demand.</a:t>
            </a:r>
          </a:p>
          <a:p>
            <a:pPr>
              <a:spcAft>
                <a:spcPts val="600"/>
              </a:spcAft>
            </a:pPr>
            <a:r>
              <a:rPr b="0" sz="1100">
                <a:solidFill>
                  <a:srgbClr val="F8FAFC"/>
                </a:solidFill>
              </a:rPr>
              <a:t>Real-Time Audit Feed: Logs anomaly detection events with millisecond timestamp, classified fault class, and confidence score.</a:t>
            </a:r>
          </a:p>
          <a:p>
            <a:pPr>
              <a:spcAft>
                <a:spcPts val="600"/>
              </a:spcAft>
            </a:pPr>
            <a:r>
              <a:rPr b="0" sz="1100">
                <a:solidFill>
                  <a:srgbClr val="F8FAFC"/>
                </a:solidFill>
              </a:rPr>
              <a:t>Instant Reset: One-click restoration to pristine normal operation.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38BDF8"/>
                </a:solidFill>
              </a:defRPr>
            </a:pPr>
            <a:r>
              <a:t>EXPERIMENTAL RESULTS &amp; VALIDATION</a:t>
            </a:r>
          </a:p>
          <a:p>
            <a:pPr>
              <a:spcAft>
                <a:spcPts val="300"/>
              </a:spcAft>
              <a:defRPr sz="2400" b="1">
                <a:solidFill>
                  <a:srgbClr val="F8FAFC"/>
                </a:solidFill>
              </a:defRPr>
            </a:pPr>
            <a:r>
              <a:t>Comparative Performance Evaluation</a:t>
            </a:r>
          </a:p>
          <a:p>
            <a:pPr>
              <a:defRPr sz="1200">
                <a:solidFill>
                  <a:srgbClr val="94A3B8"/>
                </a:solidFill>
              </a:defRPr>
            </a:pPr>
            <a:r>
              <a:t>Evaluating 18,000 multi-sensor samples against Ranpariya &amp; Sharma (2025) and standard ML baselines</a:t>
            </a:r>
          </a:p>
        </p:txBody>
      </p:sp>
      <p:graphicFrame>
        <p:nvGraphicFramePr>
          <p:cNvPr id="4" name="Table 3"/>
          <p:cNvGraphicFramePr>
            <a:graphicFrameLocks noGrp="1"/>
          </p:cNvGraphicFramePr>
          <p:nvPr/>
        </p:nvGraphicFramePr>
        <p:xfrm>
          <a:off x="731520" y="1645920"/>
          <a:ext cx="10698480" cy="2103120"/>
        </p:xfrm>
        <a:graphic>
          <a:graphicData uri="http://schemas.openxmlformats.org/drawingml/2006/table">
            <a:tbl>
              <a:tblPr firstRow="1" bandRow="1">
                <a:tableStyleId>{5C22544A-7EE6-4342-B048-85BDC9FD1C3A}</a:tableStyleId>
              </a:tblPr>
              <a:tblGrid>
                <a:gridCol w="2926080"/>
                <a:gridCol w="2103120"/>
                <a:gridCol w="1371600"/>
                <a:gridCol w="1371600"/>
                <a:gridCol w="1371600"/>
                <a:gridCol w="1554480"/>
              </a:tblGrid>
              <a:tr h="420624">
                <a:tc>
                  <a:txBody>
                    <a:bodyPr/>
                    <a:lstStyle/>
                    <a:p>
                      <a:pPr algn="ctr">
                        <a:defRPr b="1" sz="1100">
                          <a:solidFill>
                            <a:srgbClr val="F8FAFC"/>
                          </a:solidFill>
                        </a:defRPr>
                      </a:pPr>
                      <a:r>
                        <a:t>Model Architecture</a:t>
                      </a:r>
                    </a:p>
                  </a:txBody>
                  <a:tcPr>
                    <a:solidFill>
                      <a:srgbClr val="0E7490"/>
                    </a:solidFill>
                  </a:tcPr>
                </a:tc>
                <a:tc>
                  <a:txBody>
                    <a:bodyPr/>
                    <a:lstStyle/>
                    <a:p>
                      <a:pPr algn="ctr">
                        <a:defRPr b="1" sz="1100">
                          <a:solidFill>
                            <a:srgbClr val="F8FAFC"/>
                          </a:solidFill>
                        </a:defRPr>
                      </a:pPr>
                      <a:r>
                        <a:t>Feature Input</a:t>
                      </a:r>
                    </a:p>
                  </a:txBody>
                  <a:tcPr>
                    <a:solidFill>
                      <a:srgbClr val="0E7490"/>
                    </a:solidFill>
                  </a:tcPr>
                </a:tc>
                <a:tc>
                  <a:txBody>
                    <a:bodyPr/>
                    <a:lstStyle/>
                    <a:p>
                      <a:pPr algn="ctr">
                        <a:defRPr b="1" sz="1100">
                          <a:solidFill>
                            <a:srgbClr val="F8FAFC"/>
                          </a:solidFill>
                        </a:defRPr>
                      </a:pPr>
                      <a:r>
                        <a:t>Accuracy</a:t>
                      </a:r>
                    </a:p>
                  </a:txBody>
                  <a:tcPr>
                    <a:solidFill>
                      <a:srgbClr val="0E7490"/>
                    </a:solidFill>
                  </a:tcPr>
                </a:tc>
                <a:tc>
                  <a:txBody>
                    <a:bodyPr/>
                    <a:lstStyle/>
                    <a:p>
                      <a:pPr algn="ctr">
                        <a:defRPr b="1" sz="1100">
                          <a:solidFill>
                            <a:srgbClr val="F8FAFC"/>
                          </a:solidFill>
                        </a:defRPr>
                      </a:pPr>
                      <a:r>
                        <a:t>Recall</a:t>
                      </a:r>
                    </a:p>
                  </a:txBody>
                  <a:tcPr>
                    <a:solidFill>
                      <a:srgbClr val="0E7490"/>
                    </a:solidFill>
                  </a:tcPr>
                </a:tc>
                <a:tc>
                  <a:txBody>
                    <a:bodyPr/>
                    <a:lstStyle/>
                    <a:p>
                      <a:pPr algn="ctr">
                        <a:defRPr b="1" sz="1100">
                          <a:solidFill>
                            <a:srgbClr val="F8FAFC"/>
                          </a:solidFill>
                        </a:defRPr>
                      </a:pPr>
                      <a:r>
                        <a:t>F1-Score</a:t>
                      </a:r>
                    </a:p>
                  </a:txBody>
                  <a:tcPr>
                    <a:solidFill>
                      <a:srgbClr val="0E7490"/>
                    </a:solidFill>
                  </a:tcPr>
                </a:tc>
                <a:tc>
                  <a:txBody>
                    <a:bodyPr/>
                    <a:lstStyle/>
                    <a:p>
                      <a:pPr algn="ctr">
                        <a:defRPr b="1" sz="1100">
                          <a:solidFill>
                            <a:srgbClr val="F8FAFC"/>
                          </a:solidFill>
                        </a:defRPr>
                      </a:pPr>
                      <a:r>
                        <a:t>Avg Delay</a:t>
                      </a:r>
                    </a:p>
                  </a:txBody>
                  <a:tcPr>
                    <a:solidFill>
                      <a:srgbClr val="0E7490"/>
                    </a:solidFill>
                  </a:tcPr>
                </a:tc>
              </a:tr>
              <a:tr h="420624">
                <a:tc>
                  <a:txBody>
                    <a:bodyPr/>
                    <a:lstStyle/>
                    <a:p>
                      <a:pPr>
                        <a:defRPr sz="1000" b="1">
                          <a:solidFill>
                            <a:srgbClr val="10B981"/>
                          </a:solidFill>
                        </a:defRPr>
                      </a:pPr>
                      <a:r>
                        <a:t>Proposed 2-Stage DT Ensemble</a:t>
                      </a:r>
                    </a:p>
                  </a:txBody>
                  <a:tcPr>
                    <a:solidFill>
                      <a:srgbClr val="134E4A"/>
                    </a:solidFill>
                  </a:tcPr>
                </a:tc>
                <a:tc>
                  <a:txBody>
                    <a:bodyPr/>
                    <a:lstStyle/>
                    <a:p>
                      <a:pPr>
                        <a:defRPr sz="1000" b="1">
                          <a:solidFill>
                            <a:srgbClr val="10B981"/>
                          </a:solidFill>
                        </a:defRPr>
                      </a:pPr>
                      <a:r>
                        <a:t>14-D (Raw + Residuals)</a:t>
                      </a:r>
                    </a:p>
                  </a:txBody>
                  <a:tcPr>
                    <a:solidFill>
                      <a:srgbClr val="134E4A"/>
                    </a:solidFill>
                  </a:tcPr>
                </a:tc>
                <a:tc>
                  <a:txBody>
                    <a:bodyPr/>
                    <a:lstStyle/>
                    <a:p>
                      <a:pPr algn="ctr">
                        <a:defRPr sz="1000" b="1">
                          <a:solidFill>
                            <a:srgbClr val="10B981"/>
                          </a:solidFill>
                        </a:defRPr>
                      </a:pPr>
                      <a:r>
                        <a:t>99.94%</a:t>
                      </a:r>
                    </a:p>
                  </a:txBody>
                  <a:tcPr>
                    <a:solidFill>
                      <a:srgbClr val="134E4A"/>
                    </a:solidFill>
                  </a:tcPr>
                </a:tc>
                <a:tc>
                  <a:txBody>
                    <a:bodyPr/>
                    <a:lstStyle/>
                    <a:p>
                      <a:pPr algn="ctr">
                        <a:defRPr sz="1000" b="1">
                          <a:solidFill>
                            <a:srgbClr val="10B981"/>
                          </a:solidFill>
                        </a:defRPr>
                      </a:pPr>
                      <a:r>
                        <a:t>99.94%</a:t>
                      </a:r>
                    </a:p>
                  </a:txBody>
                  <a:tcPr>
                    <a:solidFill>
                      <a:srgbClr val="134E4A"/>
                    </a:solidFill>
                  </a:tcPr>
                </a:tc>
                <a:tc>
                  <a:txBody>
                    <a:bodyPr/>
                    <a:lstStyle/>
                    <a:p>
                      <a:pPr algn="ctr">
                        <a:defRPr sz="1000" b="1">
                          <a:solidFill>
                            <a:srgbClr val="10B981"/>
                          </a:solidFill>
                        </a:defRPr>
                      </a:pPr>
                      <a:r>
                        <a:t>99.94%</a:t>
                      </a:r>
                    </a:p>
                  </a:txBody>
                  <a:tcPr>
                    <a:solidFill>
                      <a:srgbClr val="134E4A"/>
                    </a:solidFill>
                  </a:tcPr>
                </a:tc>
                <a:tc>
                  <a:txBody>
                    <a:bodyPr/>
                    <a:lstStyle/>
                    <a:p>
                      <a:pPr algn="ctr">
                        <a:defRPr sz="1000" b="1">
                          <a:solidFill>
                            <a:srgbClr val="10B981"/>
                          </a:solidFill>
                        </a:defRPr>
                      </a:pPr>
                      <a:r>
                        <a:t>4.78 ms</a:t>
                      </a:r>
                    </a:p>
                  </a:txBody>
                  <a:tcPr>
                    <a:solidFill>
                      <a:srgbClr val="134E4A"/>
                    </a:solidFill>
                  </a:tcPr>
                </a:tc>
              </a:tr>
              <a:tr h="420624">
                <a:tc>
                  <a:txBody>
                    <a:bodyPr/>
                    <a:lstStyle/>
                    <a:p>
                      <a:pPr>
                        <a:defRPr sz="1000" b="0">
                          <a:solidFill>
                            <a:srgbClr val="F8FAFC"/>
                          </a:solidFill>
                        </a:defRPr>
                      </a:pPr>
                      <a:r>
                        <a:t>Ranpariya &amp; Sharma (2025)</a:t>
                      </a:r>
                    </a:p>
                  </a:txBody>
                  <a:tcPr>
                    <a:solidFill>
                      <a:srgbClr val="1E293B"/>
                    </a:solidFill>
                  </a:tcPr>
                </a:tc>
                <a:tc>
                  <a:txBody>
                    <a:bodyPr/>
                    <a:lstStyle/>
                    <a:p>
                      <a:pPr>
                        <a:defRPr sz="1000" b="0">
                          <a:solidFill>
                            <a:srgbClr val="F8FAFC"/>
                          </a:solidFill>
                        </a:defRPr>
                      </a:pPr>
                      <a:r>
                        <a:t>Edge-Cloud Digital Twin</a:t>
                      </a:r>
                    </a:p>
                  </a:txBody>
                  <a:tcPr>
                    <a:solidFill>
                      <a:srgbClr val="1E293B"/>
                    </a:solidFill>
                  </a:tcPr>
                </a:tc>
                <a:tc>
                  <a:txBody>
                    <a:bodyPr/>
                    <a:lstStyle/>
                    <a:p>
                      <a:pPr algn="ctr">
                        <a:defRPr sz="1000" b="0">
                          <a:solidFill>
                            <a:srgbClr val="F8FAFC"/>
                          </a:solidFill>
                        </a:defRPr>
                      </a:pPr>
                      <a:r>
                        <a:t>99.71%</a:t>
                      </a:r>
                    </a:p>
                  </a:txBody>
                  <a:tcPr>
                    <a:solidFill>
                      <a:srgbClr val="1E293B"/>
                    </a:solidFill>
                  </a:tcPr>
                </a:tc>
                <a:tc>
                  <a:txBody>
                    <a:bodyPr/>
                    <a:lstStyle/>
                    <a:p>
                      <a:pPr algn="ctr">
                        <a:defRPr sz="1000" b="0">
                          <a:solidFill>
                            <a:srgbClr val="F8FAFC"/>
                          </a:solidFill>
                        </a:defRPr>
                      </a:pPr>
                      <a:r>
                        <a:t>—</a:t>
                      </a:r>
                    </a:p>
                  </a:txBody>
                  <a:tcPr>
                    <a:solidFill>
                      <a:srgbClr val="1E293B"/>
                    </a:solidFill>
                  </a:tcPr>
                </a:tc>
                <a:tc>
                  <a:txBody>
                    <a:bodyPr/>
                    <a:lstStyle/>
                    <a:p>
                      <a:pPr algn="ctr">
                        <a:defRPr sz="1000" b="0">
                          <a:solidFill>
                            <a:srgbClr val="F8FAFC"/>
                          </a:solidFill>
                        </a:defRPr>
                      </a:pPr>
                      <a:r>
                        <a:t>—</a:t>
                      </a:r>
                    </a:p>
                  </a:txBody>
                  <a:tcPr>
                    <a:solidFill>
                      <a:srgbClr val="1E293B"/>
                    </a:solidFill>
                  </a:tcPr>
                </a:tc>
                <a:tc>
                  <a:txBody>
                    <a:bodyPr/>
                    <a:lstStyle/>
                    <a:p>
                      <a:pPr algn="ctr">
                        <a:defRPr sz="1000" b="0">
                          <a:solidFill>
                            <a:srgbClr val="F8FAFC"/>
                          </a:solidFill>
                        </a:defRPr>
                      </a:pPr>
                      <a:r>
                        <a:t>4.80 ms</a:t>
                      </a:r>
                    </a:p>
                  </a:txBody>
                  <a:tcPr>
                    <a:solidFill>
                      <a:srgbClr val="1E293B"/>
                    </a:solidFill>
                  </a:tcPr>
                </a:tc>
              </a:tr>
              <a:tr h="420624">
                <a:tc>
                  <a:txBody>
                    <a:bodyPr/>
                    <a:lstStyle/>
                    <a:p>
                      <a:pPr>
                        <a:defRPr sz="1000" b="0">
                          <a:solidFill>
                            <a:srgbClr val="F8FAFC"/>
                          </a:solidFill>
                        </a:defRPr>
                      </a:pPr>
                      <a:r>
                        <a:t>Baseline A: Random Forest (7-D)</a:t>
                      </a:r>
                    </a:p>
                  </a:txBody>
                  <a:tcPr>
                    <a:solidFill>
                      <a:srgbClr val="1E293B"/>
                    </a:solidFill>
                  </a:tcPr>
                </a:tc>
                <a:tc>
                  <a:txBody>
                    <a:bodyPr/>
                    <a:lstStyle/>
                    <a:p>
                      <a:pPr>
                        <a:defRPr sz="1000" b="0">
                          <a:solidFill>
                            <a:srgbClr val="F8FAFC"/>
                          </a:solidFill>
                        </a:defRPr>
                      </a:pPr>
                      <a:r>
                        <a:t>7-D (Raw Telemetry)</a:t>
                      </a:r>
                    </a:p>
                  </a:txBody>
                  <a:tcPr>
                    <a:solidFill>
                      <a:srgbClr val="1E293B"/>
                    </a:solidFill>
                  </a:tcPr>
                </a:tc>
                <a:tc>
                  <a:txBody>
                    <a:bodyPr/>
                    <a:lstStyle/>
                    <a:p>
                      <a:pPr algn="ctr">
                        <a:defRPr sz="1000" b="0">
                          <a:solidFill>
                            <a:srgbClr val="F8FAFC"/>
                          </a:solidFill>
                        </a:defRPr>
                      </a:pPr>
                      <a:r>
                        <a:t>94.80%</a:t>
                      </a:r>
                    </a:p>
                  </a:txBody>
                  <a:tcPr>
                    <a:solidFill>
                      <a:srgbClr val="1E293B"/>
                    </a:solidFill>
                  </a:tcPr>
                </a:tc>
                <a:tc>
                  <a:txBody>
                    <a:bodyPr/>
                    <a:lstStyle/>
                    <a:p>
                      <a:pPr algn="ctr">
                        <a:defRPr sz="1000" b="0">
                          <a:solidFill>
                            <a:srgbClr val="F8FAFC"/>
                          </a:solidFill>
                        </a:defRPr>
                      </a:pPr>
                      <a:r>
                        <a:t>94.80%</a:t>
                      </a:r>
                    </a:p>
                  </a:txBody>
                  <a:tcPr>
                    <a:solidFill>
                      <a:srgbClr val="1E293B"/>
                    </a:solidFill>
                  </a:tcPr>
                </a:tc>
                <a:tc>
                  <a:txBody>
                    <a:bodyPr/>
                    <a:lstStyle/>
                    <a:p>
                      <a:pPr algn="ctr">
                        <a:defRPr sz="1000" b="0">
                          <a:solidFill>
                            <a:srgbClr val="F8FAFC"/>
                          </a:solidFill>
                        </a:defRPr>
                      </a:pPr>
                      <a:r>
                        <a:t>94.78%</a:t>
                      </a:r>
                    </a:p>
                  </a:txBody>
                  <a:tcPr>
                    <a:solidFill>
                      <a:srgbClr val="1E293B"/>
                    </a:solidFill>
                  </a:tcPr>
                </a:tc>
                <a:tc>
                  <a:txBody>
                    <a:bodyPr/>
                    <a:lstStyle/>
                    <a:p>
                      <a:pPr algn="ctr">
                        <a:defRPr sz="1000" b="0">
                          <a:solidFill>
                            <a:srgbClr val="F8FAFC"/>
                          </a:solidFill>
                        </a:defRPr>
                      </a:pPr>
                      <a:r>
                        <a:t>8.42 ms</a:t>
                      </a:r>
                    </a:p>
                  </a:txBody>
                  <a:tcPr>
                    <a:solidFill>
                      <a:srgbClr val="1E293B"/>
                    </a:solidFill>
                  </a:tcPr>
                </a:tc>
              </a:tr>
              <a:tr h="420624">
                <a:tc>
                  <a:txBody>
                    <a:bodyPr/>
                    <a:lstStyle/>
                    <a:p>
                      <a:pPr>
                        <a:defRPr sz="1000" b="0">
                          <a:solidFill>
                            <a:srgbClr val="F8FAFC"/>
                          </a:solidFill>
                        </a:defRPr>
                      </a:pPr>
                      <a:r>
                        <a:t>Baseline B: SVM (RBF Kernel)</a:t>
                      </a:r>
                    </a:p>
                  </a:txBody>
                  <a:tcPr>
                    <a:solidFill>
                      <a:srgbClr val="1E293B"/>
                    </a:solidFill>
                  </a:tcPr>
                </a:tc>
                <a:tc>
                  <a:txBody>
                    <a:bodyPr/>
                    <a:lstStyle/>
                    <a:p>
                      <a:pPr>
                        <a:defRPr sz="1000" b="0">
                          <a:solidFill>
                            <a:srgbClr val="F8FAFC"/>
                          </a:solidFill>
                        </a:defRPr>
                      </a:pPr>
                      <a:r>
                        <a:t>7-D (Raw Telemetry)</a:t>
                      </a:r>
                    </a:p>
                  </a:txBody>
                  <a:tcPr>
                    <a:solidFill>
                      <a:srgbClr val="1E293B"/>
                    </a:solidFill>
                  </a:tcPr>
                </a:tc>
                <a:tc>
                  <a:txBody>
                    <a:bodyPr/>
                    <a:lstStyle/>
                    <a:p>
                      <a:pPr algn="ctr">
                        <a:defRPr sz="1000" b="0">
                          <a:solidFill>
                            <a:srgbClr val="F8FAFC"/>
                          </a:solidFill>
                        </a:defRPr>
                      </a:pPr>
                      <a:r>
                        <a:t>91.20%</a:t>
                      </a:r>
                    </a:p>
                  </a:txBody>
                  <a:tcPr>
                    <a:solidFill>
                      <a:srgbClr val="1E293B"/>
                    </a:solidFill>
                  </a:tcPr>
                </a:tc>
                <a:tc>
                  <a:txBody>
                    <a:bodyPr/>
                    <a:lstStyle/>
                    <a:p>
                      <a:pPr algn="ctr">
                        <a:defRPr sz="1000" b="0">
                          <a:solidFill>
                            <a:srgbClr val="F8FAFC"/>
                          </a:solidFill>
                        </a:defRPr>
                      </a:pPr>
                      <a:r>
                        <a:t>91.20%</a:t>
                      </a:r>
                    </a:p>
                  </a:txBody>
                  <a:tcPr>
                    <a:solidFill>
                      <a:srgbClr val="1E293B"/>
                    </a:solidFill>
                  </a:tcPr>
                </a:tc>
                <a:tc>
                  <a:txBody>
                    <a:bodyPr/>
                    <a:lstStyle/>
                    <a:p>
                      <a:pPr algn="ctr">
                        <a:defRPr sz="1000" b="0">
                          <a:solidFill>
                            <a:srgbClr val="F8FAFC"/>
                          </a:solidFill>
                        </a:defRPr>
                      </a:pPr>
                      <a:r>
                        <a:t>91.15%</a:t>
                      </a:r>
                    </a:p>
                  </a:txBody>
                  <a:tcPr>
                    <a:solidFill>
                      <a:srgbClr val="1E293B"/>
                    </a:solidFill>
                  </a:tcPr>
                </a:tc>
                <a:tc>
                  <a:txBody>
                    <a:bodyPr/>
                    <a:lstStyle/>
                    <a:p>
                      <a:pPr algn="ctr">
                        <a:defRPr sz="1000" b="0">
                          <a:solidFill>
                            <a:srgbClr val="F8FAFC"/>
                          </a:solidFill>
                        </a:defRPr>
                      </a:pPr>
                      <a:r>
                        <a:t>15.60 ms</a:t>
                      </a:r>
                    </a:p>
                  </a:txBody>
                  <a:tcPr>
                    <a:solidFill>
                      <a:srgbClr val="1E293B"/>
                    </a:solidFill>
                  </a:tcPr>
                </a:tc>
              </a:tr>
            </a:tbl>
          </a:graphicData>
        </a:graphic>
      </p:graphicFrame>
      <p:sp>
        <p:nvSpPr>
          <p:cNvPr id="5" name="Rounded Rectangle 4"/>
          <p:cNvSpPr/>
          <p:nvPr/>
        </p:nvSpPr>
        <p:spPr>
          <a:xfrm>
            <a:off x="731520" y="4023360"/>
            <a:ext cx="521208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160520"/>
            <a:ext cx="4846320" cy="1920240"/>
          </a:xfrm>
          <a:prstGeom prst="rect">
            <a:avLst/>
          </a:prstGeom>
          <a:noFill/>
        </p:spPr>
        <p:txBody>
          <a:bodyPr wrap="square" lIns="0" tIns="0" rIns="0" bIns="0">
            <a:spAutoFit/>
          </a:bodyPr>
          <a:lstStyle/>
          <a:p>
            <a:pPr>
              <a:spcAft>
                <a:spcPts val="800"/>
              </a:spcAft>
              <a:defRPr sz="1400" b="1">
                <a:solidFill>
                  <a:srgbClr val="10B981"/>
                </a:solidFill>
              </a:defRPr>
            </a:pPr>
            <a:r>
              <a:t>Finding 1: Residual Superiority</a:t>
            </a:r>
          </a:p>
          <a:p>
            <a:pPr>
              <a:spcAft>
                <a:spcPts val="600"/>
              </a:spcAft>
            </a:pPr>
            <a:r>
              <a:rPr b="0" sz="1100">
                <a:solidFill>
                  <a:srgbClr val="F8FAFC"/>
                </a:solidFill>
              </a:rPr>
              <a:t>Incorporating Digital Twin residuals boosted classification accuracy from 94.80% (raw sensors) to 99.94%.</a:t>
            </a:r>
          </a:p>
          <a:p>
            <a:pPr>
              <a:spcAft>
                <a:spcPts val="600"/>
              </a:spcAft>
            </a:pPr>
            <a:r>
              <a:rPr b="0" sz="1100">
                <a:solidFill>
                  <a:srgbClr val="F8FAFC"/>
                </a:solidFill>
              </a:rPr>
              <a:t>Physical residuals cancel out confounding load changes, ensuring pure fault sensitivity.</a:t>
            </a:r>
          </a:p>
        </p:txBody>
      </p:sp>
      <p:sp>
        <p:nvSpPr>
          <p:cNvPr id="7" name="Rounded Rectangle 6"/>
          <p:cNvSpPr/>
          <p:nvPr/>
        </p:nvSpPr>
        <p:spPr>
          <a:xfrm>
            <a:off x="6217920" y="4023360"/>
            <a:ext cx="521208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4160520"/>
            <a:ext cx="4846320" cy="1920240"/>
          </a:xfrm>
          <a:prstGeom prst="rect">
            <a:avLst/>
          </a:prstGeom>
          <a:noFill/>
        </p:spPr>
        <p:txBody>
          <a:bodyPr wrap="square" lIns="0" tIns="0" rIns="0" bIns="0">
            <a:spAutoFit/>
          </a:bodyPr>
          <a:lstStyle/>
          <a:p>
            <a:pPr>
              <a:spcAft>
                <a:spcPts val="800"/>
              </a:spcAft>
              <a:defRPr sz="1400" b="1">
                <a:solidFill>
                  <a:srgbClr val="38BDF8"/>
                </a:solidFill>
              </a:defRPr>
            </a:pPr>
            <a:r>
              <a:t>Finding 2: Edge Latency Adherence</a:t>
            </a:r>
          </a:p>
          <a:p>
            <a:pPr>
              <a:spcAft>
                <a:spcPts val="600"/>
              </a:spcAft>
            </a:pPr>
            <a:r>
              <a:rPr b="0" sz="1100">
                <a:solidFill>
                  <a:srgbClr val="F8FAFC"/>
                </a:solidFill>
              </a:rPr>
              <a:t>Average estimation delay of 4.78 ms successfully reproduces the &lt;= 4.80 ms baseline paper limit.</a:t>
            </a:r>
          </a:p>
          <a:p>
            <a:pPr>
              <a:spcAft>
                <a:spcPts val="600"/>
              </a:spcAft>
            </a:pPr>
            <a:r>
              <a:rPr b="0" sz="1100">
                <a:solidFill>
                  <a:srgbClr val="F8FAFC"/>
                </a:solidFill>
              </a:rPr>
              <a:t>Fast-path screening in Stage 1 ensures normal samples incur only ~1.5 ms delay.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38BDF8"/>
                </a:solidFill>
              </a:defRPr>
            </a:pPr>
            <a:r>
              <a:t>VIVA VOCE &amp; TECHNICAL DEFENSE GUIDE</a:t>
            </a:r>
          </a:p>
          <a:p>
            <a:pPr>
              <a:spcAft>
                <a:spcPts val="300"/>
              </a:spcAft>
              <a:defRPr sz="2400" b="1">
                <a:solidFill>
                  <a:srgbClr val="F8FAFC"/>
                </a:solidFill>
              </a:defRPr>
            </a:pPr>
            <a:r>
              <a:t>Anticipated Questions &amp; Technical Explanations</a:t>
            </a:r>
          </a:p>
          <a:p>
            <a:pPr>
              <a:defRPr sz="1200">
                <a:solidFill>
                  <a:srgbClr val="94A3B8"/>
                </a:solidFill>
              </a:defRPr>
            </a:pPr>
            <a:r>
              <a:t>Clear rationale for architectural, streaming, and machine learning decisions</a:t>
            </a:r>
          </a:p>
        </p:txBody>
      </p:sp>
      <p:sp>
        <p:nvSpPr>
          <p:cNvPr id="4" name="Rounded Rectangle 3"/>
          <p:cNvSpPr/>
          <p:nvPr/>
        </p:nvSpPr>
        <p:spPr>
          <a:xfrm>
            <a:off x="731520" y="1645920"/>
            <a:ext cx="521208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846320" cy="1920240"/>
          </a:xfrm>
          <a:prstGeom prst="rect">
            <a:avLst/>
          </a:prstGeom>
          <a:noFill/>
        </p:spPr>
        <p:txBody>
          <a:bodyPr wrap="square" lIns="0" tIns="0" rIns="0" bIns="0">
            <a:spAutoFit/>
          </a:bodyPr>
          <a:lstStyle/>
          <a:p>
            <a:pPr>
              <a:spcAft>
                <a:spcPts val="800"/>
              </a:spcAft>
              <a:defRPr sz="1400" b="1">
                <a:solidFill>
                  <a:srgbClr val="F59E0B"/>
                </a:solidFill>
              </a:defRPr>
            </a:pPr>
            <a:r>
              <a:t>Q1: "Why not use Deep Learning (LSTM / Transformers)?"</a:t>
            </a:r>
          </a:p>
          <a:p>
            <a:pPr>
              <a:spcAft>
                <a:spcPts val="600"/>
              </a:spcAft>
            </a:pPr>
            <a:r>
              <a:rPr b="0" sz="1000">
                <a:solidFill>
                  <a:srgbClr val="F8FAFC"/>
                </a:solidFill>
              </a:rPr>
              <a:t>Deep recurrent networks impose inference latencies &gt; 50 ms and require heavy GPU hardware.</a:t>
            </a:r>
          </a:p>
          <a:p>
            <a:pPr>
              <a:spcAft>
                <a:spcPts val="600"/>
              </a:spcAft>
            </a:pPr>
            <a:r>
              <a:rPr b="0" sz="1000">
                <a:solidFill>
                  <a:srgbClr val="F8FAFC"/>
                </a:solidFill>
              </a:rPr>
              <a:t>In time-critical IIoT, control loops need sub-5ms decisions; our Two-Stage ensemble achieves 4.78 ms on lightweight CPU.</a:t>
            </a:r>
          </a:p>
        </p:txBody>
      </p:sp>
      <p:sp>
        <p:nvSpPr>
          <p:cNvPr id="6" name="Rounded Rectangle 5"/>
          <p:cNvSpPr/>
          <p:nvPr/>
        </p:nvSpPr>
        <p:spPr>
          <a:xfrm>
            <a:off x="6217920" y="1645920"/>
            <a:ext cx="521208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83080"/>
            <a:ext cx="4846320" cy="1920240"/>
          </a:xfrm>
          <a:prstGeom prst="rect">
            <a:avLst/>
          </a:prstGeom>
          <a:noFill/>
        </p:spPr>
        <p:txBody>
          <a:bodyPr wrap="square" lIns="0" tIns="0" rIns="0" bIns="0">
            <a:spAutoFit/>
          </a:bodyPr>
          <a:lstStyle/>
          <a:p>
            <a:pPr>
              <a:spcAft>
                <a:spcPts val="800"/>
              </a:spcAft>
              <a:defRPr sz="1400" b="1">
                <a:solidFill>
                  <a:srgbClr val="38BDF8"/>
                </a:solidFill>
              </a:defRPr>
            </a:pPr>
            <a:r>
              <a:t>Q2: "What is the specific role of Kafka and Spark?"</a:t>
            </a:r>
          </a:p>
          <a:p>
            <a:pPr>
              <a:spcAft>
                <a:spcPts val="600"/>
              </a:spcAft>
            </a:pPr>
            <a:r>
              <a:rPr b="0" sz="1000">
                <a:solidFill>
                  <a:srgbClr val="F8FAFC"/>
                </a:solidFill>
              </a:rPr>
              <a:t>Apache Kafka decouples the 10 Hz telemetry ingestion from downstream consumers, preventing data loss during burst loads.</a:t>
            </a:r>
          </a:p>
          <a:p>
            <a:pPr>
              <a:spcAft>
                <a:spcPts val="600"/>
              </a:spcAft>
            </a:pPr>
            <a:r>
              <a:rPr b="0" sz="1000">
                <a:solidFill>
                  <a:srgbClr val="F8FAFC"/>
                </a:solidFill>
              </a:rPr>
              <a:t>PySpark Structured Streaming performs watermarked sliding window analytics (5s window, 1s slide) for rolling aggregates.</a:t>
            </a:r>
          </a:p>
        </p:txBody>
      </p:sp>
      <p:sp>
        <p:nvSpPr>
          <p:cNvPr id="8" name="Rounded Rectangle 7"/>
          <p:cNvSpPr/>
          <p:nvPr/>
        </p:nvSpPr>
        <p:spPr>
          <a:xfrm>
            <a:off x="731520" y="4023360"/>
            <a:ext cx="521208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60520"/>
            <a:ext cx="4846320" cy="1920240"/>
          </a:xfrm>
          <a:prstGeom prst="rect">
            <a:avLst/>
          </a:prstGeom>
          <a:noFill/>
        </p:spPr>
        <p:txBody>
          <a:bodyPr wrap="square" lIns="0" tIns="0" rIns="0" bIns="0">
            <a:spAutoFit/>
          </a:bodyPr>
          <a:lstStyle/>
          <a:p>
            <a:pPr>
              <a:spcAft>
                <a:spcPts val="800"/>
              </a:spcAft>
              <a:defRPr sz="1400" b="1">
                <a:solidFill>
                  <a:srgbClr val="10B981"/>
                </a:solidFill>
              </a:defRPr>
            </a:pPr>
            <a:r>
              <a:t>Q3: "Why are Digital Twin residuals necessary?"</a:t>
            </a:r>
          </a:p>
          <a:p>
            <a:pPr>
              <a:spcAft>
                <a:spcPts val="600"/>
              </a:spcAft>
            </a:pPr>
            <a:r>
              <a:rPr b="0" sz="1000">
                <a:solidFill>
                  <a:srgbClr val="F8FAFC"/>
                </a:solidFill>
              </a:rPr>
              <a:t>Raw sensor telemetry fluctuates naturally when motor speed or electrical load varies.</a:t>
            </a:r>
          </a:p>
          <a:p>
            <a:pPr>
              <a:spcAft>
                <a:spcPts val="600"/>
              </a:spcAft>
            </a:pPr>
            <a:r>
              <a:rPr b="0" sz="1000">
                <a:solidFill>
                  <a:srgbClr val="F8FAFC"/>
                </a:solidFill>
              </a:rPr>
              <a:t>The Digital Twin predicts expected behavior; taking the residual R = |X - X_hat| isolates genuine physical damage.</a:t>
            </a:r>
          </a:p>
        </p:txBody>
      </p:sp>
      <p:sp>
        <p:nvSpPr>
          <p:cNvPr id="10" name="Rounded Rectangle 9"/>
          <p:cNvSpPr/>
          <p:nvPr/>
        </p:nvSpPr>
        <p:spPr>
          <a:xfrm>
            <a:off x="6217920" y="4023360"/>
            <a:ext cx="521208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160520"/>
            <a:ext cx="4846320" cy="1920240"/>
          </a:xfrm>
          <a:prstGeom prst="rect">
            <a:avLst/>
          </a:prstGeom>
          <a:noFill/>
        </p:spPr>
        <p:txBody>
          <a:bodyPr wrap="square" lIns="0" tIns="0" rIns="0" bIns="0">
            <a:spAutoFit/>
          </a:bodyPr>
          <a:lstStyle/>
          <a:p>
            <a:pPr>
              <a:spcAft>
                <a:spcPts val="800"/>
              </a:spcAft>
              <a:defRPr sz="1400" b="1">
                <a:solidFill>
                  <a:srgbClr val="38BDF8"/>
                </a:solidFill>
              </a:defRPr>
            </a:pPr>
            <a:r>
              <a:t>Q4: "How does the Two-Stage Ensemble save latency?"</a:t>
            </a:r>
          </a:p>
          <a:p>
            <a:pPr>
              <a:spcAft>
                <a:spcPts val="600"/>
              </a:spcAft>
            </a:pPr>
            <a:r>
              <a:rPr b="0" sz="1000">
                <a:solidFill>
                  <a:srgbClr val="F8FAFC"/>
                </a:solidFill>
              </a:rPr>
              <a:t>Stage 1 (linear SGD) takes only ~1.5 ms. If normal, it bypasses Stage 2 entirely (Fast Path).</a:t>
            </a:r>
          </a:p>
          <a:p>
            <a:pPr>
              <a:spcAft>
                <a:spcPts val="600"/>
              </a:spcAft>
            </a:pPr>
            <a:r>
              <a:rPr b="0" sz="1000">
                <a:solidFill>
                  <a:srgbClr val="F8FAFC"/>
                </a:solidFill>
              </a:rPr>
              <a:t>Stage 2 (ExtraTrees) is executed only when an anomaly is confirmed, minimizing average processing time.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38BDF8"/>
                </a:solidFill>
              </a:defRPr>
            </a:pPr>
            <a:r>
              <a:t>SUMMARY &amp; FUTURE ROADMAP</a:t>
            </a:r>
          </a:p>
          <a:p>
            <a:pPr>
              <a:spcAft>
                <a:spcPts val="300"/>
              </a:spcAft>
              <a:defRPr sz="2400" b="1">
                <a:solidFill>
                  <a:srgbClr val="F8FAFC"/>
                </a:solidFill>
              </a:defRPr>
            </a:pPr>
            <a:r>
              <a:t>Project Conclusions &amp; Future Directions</a:t>
            </a:r>
          </a:p>
          <a:p>
            <a:pPr>
              <a:defRPr sz="1200">
                <a:solidFill>
                  <a:srgbClr val="94A3B8"/>
                </a:solidFill>
              </a:defRPr>
            </a:pPr>
            <a:r>
              <a:t>Real-Time Digital Twin for Streaming-Based Anomaly Detection</a:t>
            </a:r>
          </a:p>
        </p:txBody>
      </p:sp>
      <p:sp>
        <p:nvSpPr>
          <p:cNvPr id="4" name="Rounded Rectangle 3"/>
          <p:cNvSpPr/>
          <p:nvPr/>
        </p:nvSpPr>
        <p:spPr>
          <a:xfrm>
            <a:off x="731520" y="1645920"/>
            <a:ext cx="5212080" cy="3474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846320" cy="3200400"/>
          </a:xfrm>
          <a:prstGeom prst="rect">
            <a:avLst/>
          </a:prstGeom>
          <a:noFill/>
        </p:spPr>
        <p:txBody>
          <a:bodyPr wrap="square" lIns="0" tIns="0" rIns="0" bIns="0">
            <a:spAutoFit/>
          </a:bodyPr>
          <a:lstStyle/>
          <a:p>
            <a:pPr>
              <a:spcAft>
                <a:spcPts val="800"/>
              </a:spcAft>
              <a:defRPr sz="1400" b="1">
                <a:solidFill>
                  <a:srgbClr val="10B981"/>
                </a:solidFill>
              </a:defRPr>
            </a:pPr>
            <a:r>
              <a:t>Key Project Achievements</a:t>
            </a:r>
          </a:p>
          <a:p>
            <a:pPr>
              <a:spcAft>
                <a:spcPts val="600"/>
              </a:spcAft>
            </a:pPr>
            <a:r>
              <a:rPr b="0" sz="1100">
                <a:solidFill>
                  <a:srgbClr val="F8FAFC"/>
                </a:solidFill>
              </a:rPr>
              <a:t>Implemented end-to-end real-time streaming pipeline combining Apache Kafka, Spark Structured Streaming, and WebSockets.</a:t>
            </a:r>
          </a:p>
          <a:p>
            <a:pPr>
              <a:spcAft>
                <a:spcPts val="600"/>
              </a:spcAft>
            </a:pPr>
            <a:r>
              <a:rPr b="0" sz="1100">
                <a:solidFill>
                  <a:srgbClr val="F8FAFC"/>
                </a:solidFill>
              </a:rPr>
              <a:t>Validated and reproduced the state-of-the-art benchmark of Ranpariya &amp; Sharma (2025): 99.94% accuracy, 4.78 ms delay.</a:t>
            </a:r>
          </a:p>
          <a:p>
            <a:pPr>
              <a:spcAft>
                <a:spcPts val="600"/>
              </a:spcAft>
            </a:pPr>
            <a:r>
              <a:rPr b="0" sz="1100">
                <a:solidFill>
                  <a:srgbClr val="F8FAFC"/>
                </a:solidFill>
              </a:rPr>
              <a:t>Engineered a Physics-Informed Digital Twin (TWIN-MTR-01) with continuous residual vector extraction and CHI tracking.</a:t>
            </a:r>
          </a:p>
          <a:p>
            <a:pPr>
              <a:spcAft>
                <a:spcPts val="600"/>
              </a:spcAft>
            </a:pPr>
            <a:r>
              <a:rPr b="0" sz="1100">
                <a:solidFill>
                  <a:srgbClr val="F8FAFC"/>
                </a:solidFill>
              </a:rPr>
              <a:t>Delivered an interactive HTML5 Canvas dashboard with dynamic visual twin and fault injection controls.</a:t>
            </a:r>
          </a:p>
        </p:txBody>
      </p:sp>
      <p:sp>
        <p:nvSpPr>
          <p:cNvPr id="6" name="Rounded Rectangle 5"/>
          <p:cNvSpPr/>
          <p:nvPr/>
        </p:nvSpPr>
        <p:spPr>
          <a:xfrm>
            <a:off x="6217920" y="1645920"/>
            <a:ext cx="5212080" cy="3474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83080"/>
            <a:ext cx="4846320" cy="3200400"/>
          </a:xfrm>
          <a:prstGeom prst="rect">
            <a:avLst/>
          </a:prstGeom>
          <a:noFill/>
        </p:spPr>
        <p:txBody>
          <a:bodyPr wrap="square" lIns="0" tIns="0" rIns="0" bIns="0">
            <a:spAutoFit/>
          </a:bodyPr>
          <a:lstStyle/>
          <a:p>
            <a:pPr>
              <a:spcAft>
                <a:spcPts val="800"/>
              </a:spcAft>
              <a:defRPr sz="1400" b="1">
                <a:solidFill>
                  <a:srgbClr val="F59E0B"/>
                </a:solidFill>
              </a:defRPr>
            </a:pPr>
            <a:r>
              <a:t>Future Research Extensions</a:t>
            </a:r>
          </a:p>
          <a:p>
            <a:pPr>
              <a:spcAft>
                <a:spcPts val="600"/>
              </a:spcAft>
            </a:pPr>
            <a:r>
              <a:rPr b="0" sz="1100">
                <a:solidFill>
                  <a:srgbClr val="F8FAFC"/>
                </a:solidFill>
              </a:rPr>
              <a:t>Weibull Remaining Useful Life (RUL): Integrating prognostic survival curves to predict exact hours until component failure.</a:t>
            </a:r>
          </a:p>
          <a:p>
            <a:pPr>
              <a:spcAft>
                <a:spcPts val="600"/>
              </a:spcAft>
            </a:pPr>
            <a:r>
              <a:rPr b="0" sz="1100">
                <a:solidFill>
                  <a:srgbClr val="F8FAFC"/>
                </a:solidFill>
              </a:rPr>
              <a:t>Multi-Asset Fleet Monitoring: Scaling Kafka partitioning across hundreds of heterogeneous factory machines.</a:t>
            </a:r>
          </a:p>
          <a:p>
            <a:pPr>
              <a:spcAft>
                <a:spcPts val="600"/>
              </a:spcAft>
            </a:pPr>
            <a:r>
              <a:rPr b="0" sz="1100">
                <a:solidFill>
                  <a:srgbClr val="F8FAFC"/>
                </a:solidFill>
              </a:rPr>
              <a:t>Hardware-in-the-Loop Edge Deployment: Compiling the Stage 1 model to TinyML microcontrollers (ESP32 / Raspberry Pi).</a:t>
            </a:r>
          </a:p>
        </p:txBody>
      </p:sp>
      <p:sp>
        <p:nvSpPr>
          <p:cNvPr id="8" name="Rounded Rectangle 7"/>
          <p:cNvSpPr/>
          <p:nvPr/>
        </p:nvSpPr>
        <p:spPr>
          <a:xfrm>
            <a:off x="731520" y="5303520"/>
            <a:ext cx="10698480" cy="1005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40680"/>
            <a:ext cx="10332719" cy="731520"/>
          </a:xfrm>
          <a:prstGeom prst="rect">
            <a:avLst/>
          </a:prstGeom>
          <a:noFill/>
        </p:spPr>
        <p:txBody>
          <a:bodyPr wrap="square" lIns="0" tIns="0" rIns="0" bIns="0">
            <a:spAutoFit/>
          </a:bodyPr>
          <a:lstStyle/>
          <a:p>
            <a:pPr algn="ctr">
              <a:defRPr sz="1600" b="1">
                <a:solidFill>
                  <a:srgbClr val="38BDF8"/>
                </a:solidFill>
              </a:defRPr>
            </a:pPr>
            <a:r>
              <a:t>Thank You! Open for Questions &amp; Live Demonstration</a:t>
            </a:r>
          </a:p>
          <a:p>
            <a:pPr algn="ctr">
              <a:defRPr sz="1200">
                <a:solidFill>
                  <a:srgbClr val="94A3B8"/>
                </a:solidFill>
              </a:defRPr>
            </a:pPr>
            <a:r>
              <a:t>Mohammed Sirajudheen (2023BCS0132) | Rohit Pratap Singh (2023BCS0138) | Amit Kumar (2023BCS0210) | Kartik P (2023BCD0051) | Team No: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